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10"/>
  </p:notesMasterIdLst>
  <p:handoutMasterIdLst>
    <p:handoutMasterId r:id="rId111"/>
  </p:handoutMasterIdLst>
  <p:sldIdLst>
    <p:sldId id="406" r:id="rId2"/>
    <p:sldId id="291" r:id="rId3"/>
    <p:sldId id="319" r:id="rId4"/>
    <p:sldId id="320" r:id="rId5"/>
    <p:sldId id="321" r:id="rId6"/>
    <p:sldId id="322" r:id="rId7"/>
    <p:sldId id="323" r:id="rId8"/>
    <p:sldId id="324" r:id="rId9"/>
    <p:sldId id="325" r:id="rId10"/>
    <p:sldId id="327" r:id="rId11"/>
    <p:sldId id="293" r:id="rId12"/>
    <p:sldId id="326" r:id="rId13"/>
    <p:sldId id="257" r:id="rId14"/>
    <p:sldId id="258" r:id="rId15"/>
    <p:sldId id="259" r:id="rId16"/>
    <p:sldId id="394" r:id="rId17"/>
    <p:sldId id="292" r:id="rId18"/>
    <p:sldId id="294" r:id="rId19"/>
    <p:sldId id="295" r:id="rId20"/>
    <p:sldId id="296" r:id="rId21"/>
    <p:sldId id="297" r:id="rId22"/>
    <p:sldId id="298" r:id="rId23"/>
    <p:sldId id="299" r:id="rId24"/>
    <p:sldId id="393" r:id="rId25"/>
    <p:sldId id="300" r:id="rId26"/>
    <p:sldId id="301" r:id="rId27"/>
    <p:sldId id="302" r:id="rId28"/>
    <p:sldId id="303" r:id="rId29"/>
    <p:sldId id="304" r:id="rId30"/>
    <p:sldId id="305" r:id="rId31"/>
    <p:sldId id="306" r:id="rId32"/>
    <p:sldId id="307" r:id="rId33"/>
    <p:sldId id="309" r:id="rId34"/>
    <p:sldId id="310" r:id="rId35"/>
    <p:sldId id="343" r:id="rId36"/>
    <p:sldId id="312" r:id="rId37"/>
    <p:sldId id="392" r:id="rId38"/>
    <p:sldId id="344" r:id="rId39"/>
    <p:sldId id="311" r:id="rId40"/>
    <p:sldId id="314" r:id="rId41"/>
    <p:sldId id="315" r:id="rId42"/>
    <p:sldId id="391" r:id="rId43"/>
    <p:sldId id="345" r:id="rId44"/>
    <p:sldId id="318" r:id="rId45"/>
    <p:sldId id="346" r:id="rId46"/>
    <p:sldId id="347" r:id="rId47"/>
    <p:sldId id="348" r:id="rId48"/>
    <p:sldId id="349" r:id="rId49"/>
    <p:sldId id="350" r:id="rId50"/>
    <p:sldId id="352" r:id="rId51"/>
    <p:sldId id="353" r:id="rId52"/>
    <p:sldId id="328" r:id="rId53"/>
    <p:sldId id="329" r:id="rId54"/>
    <p:sldId id="330" r:id="rId55"/>
    <p:sldId id="354" r:id="rId56"/>
    <p:sldId id="331" r:id="rId57"/>
    <p:sldId id="390" r:id="rId58"/>
    <p:sldId id="355" r:id="rId59"/>
    <p:sldId id="317" r:id="rId60"/>
    <p:sldId id="356" r:id="rId61"/>
    <p:sldId id="357" r:id="rId62"/>
    <p:sldId id="359" r:id="rId63"/>
    <p:sldId id="404" r:id="rId64"/>
    <p:sldId id="389" r:id="rId65"/>
    <p:sldId id="360" r:id="rId66"/>
    <p:sldId id="361" r:id="rId67"/>
    <p:sldId id="362" r:id="rId68"/>
    <p:sldId id="382" r:id="rId69"/>
    <p:sldId id="384" r:id="rId70"/>
    <p:sldId id="385" r:id="rId71"/>
    <p:sldId id="386" r:id="rId72"/>
    <p:sldId id="388" r:id="rId73"/>
    <p:sldId id="387" r:id="rId74"/>
    <p:sldId id="395" r:id="rId75"/>
    <p:sldId id="396" r:id="rId76"/>
    <p:sldId id="398" r:id="rId77"/>
    <p:sldId id="397" r:id="rId78"/>
    <p:sldId id="399" r:id="rId79"/>
    <p:sldId id="400" r:id="rId80"/>
    <p:sldId id="401" r:id="rId81"/>
    <p:sldId id="403" r:id="rId82"/>
    <p:sldId id="374" r:id="rId83"/>
    <p:sldId id="375" r:id="rId84"/>
    <p:sldId id="376" r:id="rId85"/>
    <p:sldId id="377" r:id="rId86"/>
    <p:sldId id="335" r:id="rId87"/>
    <p:sldId id="378" r:id="rId88"/>
    <p:sldId id="379" r:id="rId89"/>
    <p:sldId id="380" r:id="rId90"/>
    <p:sldId id="373" r:id="rId91"/>
    <p:sldId id="363" r:id="rId92"/>
    <p:sldId id="364" r:id="rId93"/>
    <p:sldId id="365" r:id="rId94"/>
    <p:sldId id="366" r:id="rId95"/>
    <p:sldId id="342" r:id="rId96"/>
    <p:sldId id="367" r:id="rId97"/>
    <p:sldId id="368" r:id="rId98"/>
    <p:sldId id="333" r:id="rId99"/>
    <p:sldId id="337" r:id="rId100"/>
    <p:sldId id="336" r:id="rId101"/>
    <p:sldId id="369" r:id="rId102"/>
    <p:sldId id="370" r:id="rId103"/>
    <p:sldId id="339" r:id="rId104"/>
    <p:sldId id="340" r:id="rId105"/>
    <p:sldId id="334" r:id="rId106"/>
    <p:sldId id="372" r:id="rId107"/>
    <p:sldId id="381" r:id="rId108"/>
    <p:sldId id="405" r:id="rId109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 November, 0900-1000" id="{C81B977D-B904-D64D-9B82-73A8047B6F1A}">
          <p14:sldIdLst>
            <p14:sldId id="406"/>
            <p14:sldId id="291"/>
            <p14:sldId id="319"/>
            <p14:sldId id="320"/>
            <p14:sldId id="321"/>
            <p14:sldId id="322"/>
            <p14:sldId id="323"/>
            <p14:sldId id="324"/>
            <p14:sldId id="325"/>
            <p14:sldId id="327"/>
            <p14:sldId id="293"/>
            <p14:sldId id="326"/>
            <p14:sldId id="257"/>
            <p14:sldId id="258"/>
            <p14:sldId id="259"/>
          </p14:sldIdLst>
        </p14:section>
        <p14:section name="11 November 1000-1100" id="{9C17B0EA-3447-1242-AC57-26E3B2C42C96}">
          <p14:sldIdLst>
            <p14:sldId id="394"/>
            <p14:sldId id="292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11 November 1100-1200" id="{8DEF7AC0-C90C-0246-A52B-9F9E8824C91C}">
          <p14:sldIdLst>
            <p14:sldId id="393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9"/>
            <p14:sldId id="310"/>
            <p14:sldId id="343"/>
            <p14:sldId id="312"/>
          </p14:sldIdLst>
        </p14:section>
        <p14:section name="11 November 1200-1300" id="{10930351-D98B-FF48-9484-3C7A752B18C0}">
          <p14:sldIdLst>
            <p14:sldId id="392"/>
            <p14:sldId id="344"/>
            <p14:sldId id="311"/>
            <p14:sldId id="314"/>
            <p14:sldId id="315"/>
          </p14:sldIdLst>
        </p14:section>
        <p14:section name="11 November 1400-1530" id="{704F7E2B-A96D-A742-B34A-3C124AC72AA6}">
          <p14:sldIdLst>
            <p14:sldId id="391"/>
            <p14:sldId id="345"/>
            <p14:sldId id="318"/>
            <p14:sldId id="346"/>
            <p14:sldId id="347"/>
            <p14:sldId id="348"/>
            <p14:sldId id="349"/>
            <p14:sldId id="350"/>
            <p14:sldId id="352"/>
            <p14:sldId id="353"/>
            <p14:sldId id="328"/>
            <p14:sldId id="329"/>
            <p14:sldId id="330"/>
            <p14:sldId id="354"/>
            <p14:sldId id="331"/>
          </p14:sldIdLst>
        </p14:section>
        <p14:section name="11 November 1530-1700" id="{EBB3BC09-0348-F04B-B299-3CE4A149178F}">
          <p14:sldIdLst>
            <p14:sldId id="390"/>
            <p14:sldId id="355"/>
            <p14:sldId id="317"/>
          </p14:sldIdLst>
        </p14:section>
        <p14:section name="12 November 0900-1100" id="{A588EEF6-A57A-1947-A367-23B57769E0F0}">
          <p14:sldIdLst>
            <p14:sldId id="356"/>
            <p14:sldId id="357"/>
            <p14:sldId id="359"/>
          </p14:sldIdLst>
        </p14:section>
        <p14:section name="12 November 1100-1300" id="{2BFA2418-6788-8443-AA7D-3AB3A0348135}">
          <p14:sldIdLst>
            <p14:sldId id="404"/>
          </p14:sldIdLst>
        </p14:section>
        <p14:section name="12 November 1400-1530" id="{338C17B0-5EA5-4442-AB36-45481D50CE49}">
          <p14:sldIdLst>
            <p14:sldId id="389"/>
            <p14:sldId id="360"/>
            <p14:sldId id="361"/>
            <p14:sldId id="362"/>
            <p14:sldId id="382"/>
            <p14:sldId id="384"/>
            <p14:sldId id="385"/>
            <p14:sldId id="386"/>
          </p14:sldIdLst>
        </p14:section>
        <p14:section name="12 November 1530-1700" id="{827F9A21-AD93-8148-8788-EAD7CD9D439F}">
          <p14:sldIdLst>
            <p14:sldId id="388"/>
            <p14:sldId id="387"/>
            <p14:sldId id="395"/>
            <p14:sldId id="396"/>
            <p14:sldId id="398"/>
            <p14:sldId id="397"/>
            <p14:sldId id="399"/>
            <p14:sldId id="400"/>
            <p14:sldId id="401"/>
            <p14:sldId id="403"/>
          </p14:sldIdLst>
        </p14:section>
        <p14:section name="13 November 0900-1000" id="{6F75790E-BE5B-8E4D-9FBD-54E6F0680EA2}">
          <p14:sldIdLst>
            <p14:sldId id="374"/>
            <p14:sldId id="375"/>
            <p14:sldId id="376"/>
            <p14:sldId id="377"/>
            <p14:sldId id="335"/>
            <p14:sldId id="378"/>
            <p14:sldId id="379"/>
            <p14:sldId id="380"/>
            <p14:sldId id="373"/>
          </p14:sldIdLst>
        </p14:section>
        <p14:section name="13 November 1000-1200" id="{EFD512CA-6CC4-AA47-BBAA-171A2903AAB0}">
          <p14:sldIdLst>
            <p14:sldId id="363"/>
            <p14:sldId id="364"/>
            <p14:sldId id="365"/>
            <p14:sldId id="366"/>
            <p14:sldId id="342"/>
            <p14:sldId id="367"/>
            <p14:sldId id="368"/>
            <p14:sldId id="333"/>
            <p14:sldId id="337"/>
            <p14:sldId id="336"/>
            <p14:sldId id="369"/>
            <p14:sldId id="370"/>
            <p14:sldId id="339"/>
            <p14:sldId id="340"/>
            <p14:sldId id="334"/>
            <p14:sldId id="372"/>
          </p14:sldIdLst>
        </p14:section>
        <p14:section name="13 November 1200-1300" id="{AB94CBC9-5727-3D4D-B94B-4CA47FFF2759}">
          <p14:sldIdLst>
            <p14:sldId id="381"/>
            <p14:sldId id="4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0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D"/>
    <a:srgbClr val="494949"/>
    <a:srgbClr val="672E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32E1E7-569B-5A48-B30C-DB697CEB8225}" v="660" dt="2024-11-11T05:20:08.2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69" autoAdjust="0"/>
    <p:restoredTop sz="94813" autoAdjust="0"/>
  </p:normalViewPr>
  <p:slideViewPr>
    <p:cSldViewPr snapToGrid="0" snapToObjects="1" showGuides="1">
      <p:cViewPr varScale="1">
        <p:scale>
          <a:sx n="207" d="100"/>
          <a:sy n="207" d="100"/>
        </p:scale>
        <p:origin x="176" y="1592"/>
      </p:cViewPr>
      <p:guideLst>
        <p:guide orient="horz" pos="2160"/>
        <p:guide pos="50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 showGuides="1">
      <p:cViewPr varScale="1">
        <p:scale>
          <a:sx n="144" d="100"/>
          <a:sy n="144" d="100"/>
        </p:scale>
        <p:origin x="4792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microsoft.com/office/2015/10/relationships/revisionInfo" Target="revisionInfo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notesMaster" Target="notesMasters/notesMaster1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handoutMaster" Target="handoutMasters/handout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ain Styles" userId="befbdaae-53f8-4d26-a8dc-3366b09f768a" providerId="ADAL" clId="{EC32E1E7-569B-5A48-B30C-DB697CEB8225}"/>
    <pc:docChg chg="delSld modSld modSection">
      <pc:chgData name="Iain Styles" userId="befbdaae-53f8-4d26-a8dc-3366b09f768a" providerId="ADAL" clId="{EC32E1E7-569B-5A48-B30C-DB697CEB8225}" dt="2024-11-11T05:31:57.740" v="62" actId="2696"/>
      <pc:docMkLst>
        <pc:docMk/>
      </pc:docMkLst>
      <pc:sldChg chg="modSp modAnim">
        <pc:chgData name="Iain Styles" userId="befbdaae-53f8-4d26-a8dc-3366b09f768a" providerId="ADAL" clId="{EC32E1E7-569B-5A48-B30C-DB697CEB8225}" dt="2024-11-11T04:59:04.839" v="27" actId="20577"/>
        <pc:sldMkLst>
          <pc:docMk/>
          <pc:sldMk cId="780336828" sldId="301"/>
        </pc:sldMkLst>
        <pc:spChg chg="mod">
          <ac:chgData name="Iain Styles" userId="befbdaae-53f8-4d26-a8dc-3366b09f768a" providerId="ADAL" clId="{EC32E1E7-569B-5A48-B30C-DB697CEB8225}" dt="2024-11-11T04:59:04.839" v="27" actId="20577"/>
          <ac:spMkLst>
            <pc:docMk/>
            <pc:sldMk cId="780336828" sldId="301"/>
            <ac:spMk id="3" creationId="{DC84A0A8-BE31-992F-30F9-AE580D89B9D7}"/>
          </ac:spMkLst>
        </pc:spChg>
      </pc:sldChg>
      <pc:sldChg chg="modSp del mod">
        <pc:chgData name="Iain Styles" userId="befbdaae-53f8-4d26-a8dc-3366b09f768a" providerId="ADAL" clId="{EC32E1E7-569B-5A48-B30C-DB697CEB8225}" dt="2024-11-11T05:00:57.947" v="35" actId="2696"/>
        <pc:sldMkLst>
          <pc:docMk/>
          <pc:sldMk cId="504524839" sldId="308"/>
        </pc:sldMkLst>
        <pc:spChg chg="mod">
          <ac:chgData name="Iain Styles" userId="befbdaae-53f8-4d26-a8dc-3366b09f768a" providerId="ADAL" clId="{EC32E1E7-569B-5A48-B30C-DB697CEB8225}" dt="2024-11-11T05:00:05.802" v="30" actId="20577"/>
          <ac:spMkLst>
            <pc:docMk/>
            <pc:sldMk cId="504524839" sldId="308"/>
            <ac:spMk id="3" creationId="{7781A3E9-3A89-BC53-C1D5-0B2280F15DEC}"/>
          </ac:spMkLst>
        </pc:spChg>
        <pc:graphicFrameChg chg="mod">
          <ac:chgData name="Iain Styles" userId="befbdaae-53f8-4d26-a8dc-3366b09f768a" providerId="ADAL" clId="{EC32E1E7-569B-5A48-B30C-DB697CEB8225}" dt="2024-11-11T05:00:40.896" v="34"/>
          <ac:graphicFrameMkLst>
            <pc:docMk/>
            <pc:sldMk cId="504524839" sldId="308"/>
            <ac:graphicFrameMk id="5" creationId="{393E8CF6-98EE-90D7-79C9-1EF5509AFB8F}"/>
          </ac:graphicFrameMkLst>
        </pc:graphicFrameChg>
      </pc:sldChg>
      <pc:sldChg chg="modSp">
        <pc:chgData name="Iain Styles" userId="befbdaae-53f8-4d26-a8dc-3366b09f768a" providerId="ADAL" clId="{EC32E1E7-569B-5A48-B30C-DB697CEB8225}" dt="2024-11-11T05:01:02.972" v="36"/>
        <pc:sldMkLst>
          <pc:docMk/>
          <pc:sldMk cId="1202893673" sldId="309"/>
        </pc:sldMkLst>
        <pc:graphicFrameChg chg="mod">
          <ac:chgData name="Iain Styles" userId="befbdaae-53f8-4d26-a8dc-3366b09f768a" providerId="ADAL" clId="{EC32E1E7-569B-5A48-B30C-DB697CEB8225}" dt="2024-11-11T05:01:02.972" v="36"/>
          <ac:graphicFrameMkLst>
            <pc:docMk/>
            <pc:sldMk cId="1202893673" sldId="309"/>
            <ac:graphicFrameMk id="5" creationId="{393E8CF6-98EE-90D7-79C9-1EF5509AFB8F}"/>
          </ac:graphicFrameMkLst>
        </pc:graphicFrameChg>
      </pc:sldChg>
      <pc:sldChg chg="del">
        <pc:chgData name="Iain Styles" userId="befbdaae-53f8-4d26-a8dc-3366b09f768a" providerId="ADAL" clId="{EC32E1E7-569B-5A48-B30C-DB697CEB8225}" dt="2024-11-11T05:10:54.013" v="37" actId="2696"/>
        <pc:sldMkLst>
          <pc:docMk/>
          <pc:sldMk cId="1441943578" sldId="316"/>
        </pc:sldMkLst>
      </pc:sldChg>
      <pc:sldChg chg="modSp mod">
        <pc:chgData name="Iain Styles" userId="befbdaae-53f8-4d26-a8dc-3366b09f768a" providerId="ADAL" clId="{EC32E1E7-569B-5A48-B30C-DB697CEB8225}" dt="2024-11-11T04:56:13.241" v="24" actId="20577"/>
        <pc:sldMkLst>
          <pc:docMk/>
          <pc:sldMk cId="3211664744" sldId="325"/>
        </pc:sldMkLst>
        <pc:spChg chg="mod">
          <ac:chgData name="Iain Styles" userId="befbdaae-53f8-4d26-a8dc-3366b09f768a" providerId="ADAL" clId="{EC32E1E7-569B-5A48-B30C-DB697CEB8225}" dt="2024-11-11T04:56:13.241" v="24" actId="20577"/>
          <ac:spMkLst>
            <pc:docMk/>
            <pc:sldMk cId="3211664744" sldId="325"/>
            <ac:spMk id="7" creationId="{CCDFB13F-7034-BFAE-EE4E-1ADA9EC3FA92}"/>
          </ac:spMkLst>
        </pc:spChg>
      </pc:sldChg>
      <pc:sldChg chg="del">
        <pc:chgData name="Iain Styles" userId="befbdaae-53f8-4d26-a8dc-3366b09f768a" providerId="ADAL" clId="{EC32E1E7-569B-5A48-B30C-DB697CEB8225}" dt="2024-11-11T05:31:57.740" v="62" actId="2696"/>
        <pc:sldMkLst>
          <pc:docMk/>
          <pc:sldMk cId="3757354000" sldId="332"/>
        </pc:sldMkLst>
      </pc:sldChg>
      <pc:sldChg chg="modSp modAnim">
        <pc:chgData name="Iain Styles" userId="befbdaae-53f8-4d26-a8dc-3366b09f768a" providerId="ADAL" clId="{EC32E1E7-569B-5A48-B30C-DB697CEB8225}" dt="2024-11-11T05:20:08.247" v="61" actId="113"/>
        <pc:sldMkLst>
          <pc:docMk/>
          <pc:sldMk cId="2795853998" sldId="347"/>
        </pc:sldMkLst>
        <pc:spChg chg="mod">
          <ac:chgData name="Iain Styles" userId="befbdaae-53f8-4d26-a8dc-3366b09f768a" providerId="ADAL" clId="{EC32E1E7-569B-5A48-B30C-DB697CEB8225}" dt="2024-11-11T05:20:08.247" v="61" actId="113"/>
          <ac:spMkLst>
            <pc:docMk/>
            <pc:sldMk cId="2795853998" sldId="347"/>
            <ac:spMk id="3" creationId="{13ECB1AC-97BF-F1F8-744C-CB29D0DEE3F1}"/>
          </ac:spMkLst>
        </pc:spChg>
      </pc:sldChg>
      <pc:sldChg chg="modSp mod">
        <pc:chgData name="Iain Styles" userId="befbdaae-53f8-4d26-a8dc-3366b09f768a" providerId="ADAL" clId="{EC32E1E7-569B-5A48-B30C-DB697CEB8225}" dt="2024-11-10T20:14:03.434" v="16" actId="20577"/>
        <pc:sldMkLst>
          <pc:docMk/>
          <pc:sldMk cId="3530153824" sldId="355"/>
        </pc:sldMkLst>
        <pc:spChg chg="mod">
          <ac:chgData name="Iain Styles" userId="befbdaae-53f8-4d26-a8dc-3366b09f768a" providerId="ADAL" clId="{EC32E1E7-569B-5A48-B30C-DB697CEB8225}" dt="2024-11-10T20:14:03.434" v="16" actId="20577"/>
          <ac:spMkLst>
            <pc:docMk/>
            <pc:sldMk cId="3530153824" sldId="355"/>
            <ac:spMk id="6" creationId="{9D8AA719-99CB-BBDE-EDE0-F0EEA4906AC2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6D3417-75BC-C54F-B209-3B706A8CCE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0A46D-43DE-BC4C-9837-2979FE0093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ADF77-2023-D74B-9A03-BFA0C5C7CE1A}" type="datetimeFigureOut">
              <a:rPr lang="en-US" smtClean="0"/>
              <a:t>11/10/24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1BBCED-4587-A646-BEDB-46936438AF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4CE3C-DF0C-9349-B48C-C47FA90BE6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03ADA-6B43-F443-8DD3-2F88E9286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1873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2376A3-60EE-9D4E-A7A1-CB0D7A163B62}" type="datetimeFigureOut">
              <a:rPr lang="en-US" smtClean="0"/>
              <a:t>11/10/24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16C9C-3AD8-BF4F-8988-7C4865BA5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52904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94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263D2-87F0-A410-D603-7DF628387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1B84B6-4A05-EA85-F615-4DA789EEB5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31BE9-8587-B323-26C0-22E76E2E3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ED6090-2C27-75FC-3D4C-7790141468E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1D1A0D-4B5B-A068-F8E0-6FD025A6FC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966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9CE49-56BD-1B3B-EBE4-E522F8182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3FD680-D62C-8048-0375-13B11FCBD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6DAD8A-CB65-34E9-DF3F-6C54115D91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BA074B-9174-A1A5-BC65-7584B69934C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54A2FF-0620-DF5D-E01C-3DBDD5FAEF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49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2CCFD-4D67-216D-5E3F-D3FB6E833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5CA5CB-AD4F-87C0-6077-09A8F1D0C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EE58AD-C45F-A312-8EAF-55F95DA75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A23586-D51E-1EE4-F459-C2BF497B937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125B0B-4858-0299-F4C3-6AB797AA2A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57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0AE7A-C5FB-A193-70FE-C963D340A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1A9DCB-E118-BD6D-5FD8-A645BE5D9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71CFEB-2D55-90FE-27EF-2A996BCFA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213647-4CA9-8D27-5E5C-58C2DBA2385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89F427-613E-2AE1-0925-CD72333406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21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AFFA0-AD67-C179-EA05-46663D8F7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A07E35-DD80-4499-4435-79EC48ABB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C291D3-D11F-927D-D5AC-C0B3F1D6E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FE89C8-AF7E-6B71-BE29-8C542E94675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BF2A5D-084B-9BF9-ABDD-8339ECBE6A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608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FC901-D9AB-DDFD-52CB-BC1C5201C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344FC-A7E7-FB9B-78C9-A9B403A40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678444-1C32-8A36-AFA7-ECC0BB1E8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39D4C5-E4C6-5BEA-3E64-4EC2DD740EE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2494C6-EDA2-0B08-86C0-293175B237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1176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A7600-F20B-4515-BEB6-747F13172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619D84-FE44-6612-1C5F-92CF03358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BFBD04-44B0-D5D4-190C-28C1B9D82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5D2274-645B-0159-58D4-F1765C94E78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70E864-21D9-BC68-EC5C-ACD4FEB2A7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524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E9104-60EE-CBBA-CFA6-80E130F33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FF51F9-AAD9-4567-3B97-DD0A2C7A58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EEABC2-C479-558E-480B-92810327FF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6693E-C329-E521-68B5-9F980E8510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79F0A4-000C-3DF2-87F4-36981A4194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685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940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94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 - Ma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98111C-9A9D-874F-B913-835AC8922020}"/>
              </a:ext>
            </a:extLst>
          </p:cNvPr>
          <p:cNvSpPr/>
          <p:nvPr userDrawn="1"/>
        </p:nvSpPr>
        <p:spPr>
          <a:xfrm>
            <a:off x="0" y="6032501"/>
            <a:ext cx="12192000" cy="8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</p:spTree>
    <p:extLst>
      <p:ext uri="{BB962C8B-B14F-4D97-AF65-F5344CB8AC3E}">
        <p14:creationId xmlns:p14="http://schemas.microsoft.com/office/powerpoint/2010/main" val="2164516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Page - Artificial Intelligenc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0E60B0-A2C1-574C-9353-D0018515D1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2971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Contents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620CE5F-17DD-B74D-9272-0308033DFF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8"/>
            <a:ext cx="10515600" cy="595431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DC4F0E0-69EF-AC48-B54C-7ABE40BDE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71061"/>
            <a:ext cx="10515600" cy="497532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2122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2427190"/>
            <a:ext cx="4969768" cy="2003621"/>
          </a:xfrm>
        </p:spPr>
        <p:txBody>
          <a:bodyPr anchor="ctr" anchorCtr="0">
            <a:noAutofit/>
          </a:bodyPr>
          <a:lstStyle>
            <a:lvl1pPr algn="ctr">
              <a:defRPr sz="36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This page is to be </a:t>
            </a:r>
            <a:br>
              <a:rPr lang="en-US" dirty="0"/>
            </a:br>
            <a:r>
              <a:rPr lang="en-US" dirty="0"/>
              <a:t>used for any quote or foreword to be used. </a:t>
            </a:r>
          </a:p>
        </p:txBody>
      </p:sp>
    </p:spTree>
    <p:extLst>
      <p:ext uri="{BB962C8B-B14F-4D97-AF65-F5344CB8AC3E}">
        <p14:creationId xmlns:p14="http://schemas.microsoft.com/office/powerpoint/2010/main" val="148915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3076379"/>
            <a:ext cx="4969768" cy="705243"/>
          </a:xfrm>
        </p:spPr>
        <p:txBody>
          <a:bodyPr anchor="ctr" anchorCtr="0">
            <a:noAutofit/>
          </a:bodyPr>
          <a:lstStyle>
            <a:lvl1pPr algn="ctr">
              <a:defRPr sz="54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Title </a:t>
            </a:r>
          </a:p>
        </p:txBody>
      </p:sp>
    </p:spTree>
    <p:extLst>
      <p:ext uri="{BB962C8B-B14F-4D97-AF65-F5344CB8AC3E}">
        <p14:creationId xmlns:p14="http://schemas.microsoft.com/office/powerpoint/2010/main" val="13344095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1 - Text Left / Image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FE3E8F6-20BF-5D45-B11E-96876ED32A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2F0EFC19-CF41-DB41-B8E9-C60A32D7A1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3"/>
            <a:ext cx="4969768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22" name="Picture Placeholder 18">
            <a:extLst>
              <a:ext uri="{FF2B5EF4-FFF2-40B4-BE49-F238E27FC236}">
                <a16:creationId xmlns:a16="http://schemas.microsoft.com/office/drawing/2014/main" id="{C4F13C3A-B7AB-9E4E-B901-9EE3CE3FC6A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4032" y="381419"/>
            <a:ext cx="4968552" cy="5632056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638B46F-0F90-D7AF-02A4-2409B2F6AF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03A4BA0-775A-868E-5C6C-3CE88C60D6C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6F61729-FDED-6C92-2534-0450706B21C9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1BC700-26F9-685D-1F07-780CAA5FF9DC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0BE710A2-DADD-146C-1DBD-25E77DC846B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A142B8-3C09-6932-5ACA-FE6C4AA121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32" name="Slide Number Placeholder 4">
            <a:extLst>
              <a:ext uri="{FF2B5EF4-FFF2-40B4-BE49-F238E27FC236}">
                <a16:creationId xmlns:a16="http://schemas.microsoft.com/office/drawing/2014/main" id="{854EF07A-6A87-6EA1-38E2-FF8374F6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3293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2 - Image Left / Text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DA33A383-C1ED-3447-A6B8-FBDDD6B026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36B6E0D6-2EA8-EA4E-84DA-D67B7DE8B6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396" y="381419"/>
            <a:ext cx="4969768" cy="563205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39" name="Picture Placeholder 18">
            <a:extLst>
              <a:ext uri="{FF2B5EF4-FFF2-40B4-BE49-F238E27FC236}">
                <a16:creationId xmlns:a16="http://schemas.microsoft.com/office/drawing/2014/main" id="{8A668FA9-1D56-0D4A-B3D6-6F44B35DE35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416" y="1107851"/>
            <a:ext cx="4968552" cy="4899888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B1E2D3-A5EF-E7A2-CCDB-4A4DB8D11C8F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4355159-115E-5382-9F87-A62C23BA1D2F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E21EF9B-B835-E5EF-CB9F-D3719CCDE36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8AD6817-F6AB-852E-2CB1-AD90DEA29A68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4CDB975B-0CF3-E960-8B45-02A776FDE54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81B78A5-7211-FE1A-C661-5DA8DEAFB0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FD1C6019-0BA6-3464-94AF-91B23FF4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479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3 - Large Text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B92A2B9C-E0FC-594F-A120-24372B4675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C21F77-4957-9348-8D69-41C656769B3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1" y="1107853"/>
            <a:ext cx="10517372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8EACCF-9F5F-1F98-B9D4-2A78173213C4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400D8FA-1B30-E7D5-3FBB-5D68123170B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71E07DC-4179-81E8-509F-D65BBBBE5273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96D59D-6B44-202F-855F-6988285CB7BE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9151F32-D6DF-9905-127D-242FCFE19E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6DF842B-CCB4-C51A-C7FA-E704A1052E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B53946A-6A27-7D69-DE7F-B0B4E44F7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460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4 - Large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edia Placeholder 2">
            <a:extLst>
              <a:ext uri="{FF2B5EF4-FFF2-40B4-BE49-F238E27FC236}">
                <a16:creationId xmlns:a16="http://schemas.microsoft.com/office/drawing/2014/main" id="{67FB7D94-160F-5546-8678-92B87AAADF8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0" y="1"/>
            <a:ext cx="12192000" cy="6032499"/>
          </a:xfrm>
        </p:spPr>
        <p:txBody>
          <a:bodyPr anchor="ctr" anchorCtr="1"/>
          <a:lstStyle>
            <a:lvl1pPr marL="0" indent="0">
              <a:buNone/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Large Video Slide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A7993-082F-448E-B3F8-486B5C968A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860069-236F-1410-A0FF-2F3ABC9BD651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A9C1FB5-0CE6-AAC7-070A-0E0C05BB372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6544E7-10EF-9620-4436-24B5471FECB0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203276C-68DB-8AA1-317A-9F86BE06B59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EFDCDB8-1E85-B120-9ED2-2D34CB5A20D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1F10164-37E4-78CC-1489-BC552E1B3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302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Left Text / Right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B74D8277-456C-BB4B-B005-EB6E5FD2BB0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C2E2A4F6-6AC5-2343-AA9D-DCA5C3633F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B1C2D37E-2631-DD4A-94AA-82F69735EE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59F9DC-AE7C-FBFF-8C9F-61BE02F5775E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4074B3-FA78-27E6-1A66-191EF809E35C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4F012BF-5A13-989E-9E98-63923C30D502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E7E9B8-E765-009E-7849-DBCBE995B39D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E059C79-90CE-29B5-B3B6-01AFB6FC788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C7EEBC1-ED7F-FC72-7584-5337E408E8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014A1175-1073-FB62-3A2A-E19FE7760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093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Software Develop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4">
            <a:extLst>
              <a:ext uri="{FF2B5EF4-FFF2-40B4-BE49-F238E27FC236}">
                <a16:creationId xmlns:a16="http://schemas.microsoft.com/office/drawing/2014/main" id="{C7305CBB-55FB-B44B-A0B0-96E86345C48A}"/>
              </a:ext>
            </a:extLst>
          </p:cNvPr>
          <p:cNvSpPr txBox="1">
            <a:spLocks/>
          </p:cNvSpPr>
          <p:nvPr userDrawn="1"/>
        </p:nvSpPr>
        <p:spPr>
          <a:xfrm>
            <a:off x="9692640" y="6405648"/>
            <a:ext cx="22961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b="0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E9C85F8-0BD3-7742-B238-5BE9A2749A8F}" type="slidenum">
              <a:rPr lang="en-US" sz="1000" smtClean="0"/>
              <a:pPr/>
              <a:t>‹#›</a:t>
            </a:fld>
            <a:endParaRPr lang="en-US" sz="1000" dirty="0"/>
          </a:p>
        </p:txBody>
      </p:sp>
      <p:sp>
        <p:nvSpPr>
          <p:cNvPr id="18" name="Media Placeholder 2">
            <a:extLst>
              <a:ext uri="{FF2B5EF4-FFF2-40B4-BE49-F238E27FC236}">
                <a16:creationId xmlns:a16="http://schemas.microsoft.com/office/drawing/2014/main" id="{675C1070-97AA-E14C-974E-C64156AA47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2D60907-A2F2-994C-87D3-7689996B73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9A68E9AB-98DF-2142-9BFB-F47EF8D8E4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FFF67C-0CD2-556E-9904-6222E6170FA8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6D47AA-F4FB-6BC3-5514-F902A3246624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A03E38F-989C-9656-72FC-286B41D6CC45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1C3CEB-0AF5-075D-421C-E15D0FE48194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8872712-1DD4-0887-E813-760FFC8A9C5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D692EEC-4BFF-D31E-839E-1C89979FD3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5C106A8E-53FA-BCB2-4892-69E52BC8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1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6 - Bullet Poi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429DAEC0-2555-2845-A15D-30799D398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F91855CE-A534-634D-8877-E5E3DECFC3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1100863"/>
            <a:ext cx="10503091" cy="4912611"/>
          </a:xfrm>
        </p:spPr>
        <p:txBody>
          <a:bodyPr>
            <a:normAutofit/>
          </a:bodyPr>
          <a:lstStyle>
            <a:lvl1pPr marL="285744" marR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B0D3CC3-42E7-7420-2506-8653F75CE1A6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C2A114-C6F2-5CBA-030B-D9A0EF0E008A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33D99A-80DF-B000-5C94-FE9422B75358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C8D83-6C1F-4E5E-9719-BF0183A8799F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FCD31E5D-516B-571D-C15C-CD38C3A5187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B8CF761-B206-1FA6-1631-95E8AC8BDE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F1884E3-782D-A62D-05AB-FE7DDB2B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83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7 - Large Image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E57A80E5-2379-9B46-BEC6-413D106080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812783BF-98F9-9345-BF11-B0AC41FBDE6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8201" y="1119706"/>
            <a:ext cx="10531475" cy="4857857"/>
          </a:xfrm>
        </p:spPr>
        <p:txBody>
          <a:bodyPr/>
          <a:lstStyle/>
          <a:p>
            <a:r>
              <a:rPr lang="en-US" dirty="0"/>
              <a:t>Add Picture here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BA0998-2EC2-811F-C93B-278973FB4CEB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E8D76-5E3D-8296-877D-09E99FE9842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6B96EF3-78F7-A366-80A6-0C642B45E4B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369147-C836-5A48-5CEC-21A546E95281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A7C5095-9559-36E6-DAA4-F5F481B5EF7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85BF1F-2D82-360A-ECA2-7AFA5E2F50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E0963CC3-AB74-9CEB-7CCB-1B453753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3355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8 - Lef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D7B47B32-3A52-1F48-BE63-C5EB36A2E0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999451E6-42D4-A041-898E-E9362B934E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D60C82-C500-B131-44DF-EC245B0F1CA0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B6E645-A775-B18D-7A7D-E33B24E99D4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EFEC917-BC9B-D9F5-566E-28C4ABA92ADD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AADAF47-4FB1-16CD-8732-3E3F414B6EFA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418A011-A6DC-F25A-63AC-A7279A72759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8241CAA-D7C2-A8C8-C934-EE7AF5E04D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6E95B5D-F62C-23E0-9018-9BC0EBDC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87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9 - Righ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4512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931009-8692-1340-AFDB-626C48A215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12" y="1114007"/>
            <a:ext cx="4969768" cy="488800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75C75E-535D-3E13-83B2-78913A4C3803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4C9F514-DC38-14BF-8A18-F76D2A4359FE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C14BD3C-2E89-1792-27E5-6DCF3CC94944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B2FB90-52B0-393C-DABB-185AB20A56F5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CF88BE8-27A3-FCA8-0936-4A57020AF39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F9DCB7B-97CF-0A10-074E-8778907E4C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7BA06DD-DBC7-D6C4-A0BA-9445D1A9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8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9C85F8-0BD3-7742-B238-5BE9A2749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57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7" r:id="rId2"/>
    <p:sldLayoutId id="2147483661" r:id="rId3"/>
    <p:sldLayoutId id="2147483681" r:id="rId4"/>
    <p:sldLayoutId id="2147483672" r:id="rId5"/>
    <p:sldLayoutId id="2147483662" r:id="rId6"/>
    <p:sldLayoutId id="2147483663" r:id="rId7"/>
    <p:sldLayoutId id="2147483673" r:id="rId8"/>
    <p:sldLayoutId id="2147483680" r:id="rId9"/>
    <p:sldLayoutId id="2147483674" r:id="rId10"/>
    <p:sldLayoutId id="2147483710" r:id="rId11"/>
    <p:sldLayoutId id="2147483675" r:id="rId12"/>
    <p:sldLayoutId id="2147483736" r:id="rId13"/>
    <p:sldLayoutId id="2147483676" r:id="rId14"/>
    <p:sldLayoutId id="2147483677" r:id="rId15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Conceptual_Diagram_-_Example.svg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creativecommons.org/licenses/by-sa/4.0/deed.en" TargetMode="External"/><Relationship Id="rId4" Type="http://schemas.openxmlformats.org/officeDocument/2006/relationships/hyperlink" Target="https://en.wikipedia.org/wiki/en:Creative_Commons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8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27B0B14-0481-3084-78AE-7A9F17D4B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you here?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C70654-377B-9932-A2FE-AD5987642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9121" y="1472121"/>
            <a:ext cx="3913757" cy="391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77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E6151-F86A-8A4E-99C3-665877355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972FB-9AF1-F540-A069-5B31D78CB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1C70EF-FA7C-484D-A5D6-A4D325679B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1: Logic</a:t>
            </a:r>
          </a:p>
        </p:txBody>
      </p:sp>
    </p:spTree>
    <p:extLst>
      <p:ext uri="{BB962C8B-B14F-4D97-AF65-F5344CB8AC3E}">
        <p14:creationId xmlns:p14="http://schemas.microsoft.com/office/powerpoint/2010/main" val="4150415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F420-8FD3-BC84-2159-1284AA65D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6466490" cy="632219"/>
          </a:xfrm>
        </p:spPr>
        <p:txBody>
          <a:bodyPr/>
          <a:lstStyle/>
          <a:p>
            <a:r>
              <a:rPr lang="en-GB" dirty="0"/>
              <a:t>Logical Reasoning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1FD57-5AF8-9A86-3EDF-8AB6AB7AE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</a:t>
            </a:fld>
            <a:endParaRPr lang="en-US" dirty="0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493917A6-42C9-39B1-6F89-C62C24F98C9C}"/>
              </a:ext>
            </a:extLst>
          </p:cNvPr>
          <p:cNvGraphicFramePr>
            <a:graphicFrameLocks noGrp="1"/>
          </p:cNvGraphicFramePr>
          <p:nvPr/>
        </p:nvGraphicFramePr>
        <p:xfrm>
          <a:off x="1920105" y="1723850"/>
          <a:ext cx="3580092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7788">
                  <a:extLst>
                    <a:ext uri="{9D8B030D-6E8A-4147-A177-3AD203B41FA5}">
                      <a16:colId xmlns:a16="http://schemas.microsoft.com/office/drawing/2014/main" val="367807435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699260231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15861596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469432819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252918278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820923377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778976473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168917412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595603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1563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24959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818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986116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48041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7305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D6000D"/>
                          </a:solidFill>
                        </a:rPr>
                        <a:t>?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25398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659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95412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DB4810C-7148-1911-8147-F936F583E8DE}"/>
              </a:ext>
            </a:extLst>
          </p:cNvPr>
          <p:cNvSpPr txBox="1"/>
          <p:nvPr/>
        </p:nvSpPr>
        <p:spPr>
          <a:xfrm>
            <a:off x="7243380" y="413776"/>
            <a:ext cx="492584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Einstein’s Riddle</a:t>
            </a:r>
          </a:p>
          <a:p>
            <a:pPr>
              <a:buFont typeface="+mj-lt"/>
              <a:buAutoNum type="arabicPeriod"/>
            </a:pPr>
            <a:r>
              <a:rPr lang="en-GB" dirty="0"/>
              <a:t>There are five houses.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Englishman lives in the red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Spaniard owns the dog.</a:t>
            </a:r>
          </a:p>
          <a:p>
            <a:pPr>
              <a:buFont typeface="+mj-lt"/>
              <a:buAutoNum type="arabicPeriod"/>
            </a:pPr>
            <a:r>
              <a:rPr lang="en-GB" dirty="0"/>
              <a:t>Coffee is drunk in the green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Ukrainian drinks tea.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green house is immediately to the right of the ivory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Old Gold smoker owns snails.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yellow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Milk is drunk in the middle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in the first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man who smokes Chesterfields lives in the house next to the man with the fox.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house next to the house where the horse is kept.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Lucky Strike smoker drinks orange juice.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Japanese smokes Parliaments.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next to the blue house.</a:t>
            </a:r>
          </a:p>
          <a:p>
            <a:endParaRPr lang="en-GB" dirty="0"/>
          </a:p>
          <a:p>
            <a:r>
              <a:rPr lang="en-GB" b="1" dirty="0"/>
              <a:t>Who drinks water?</a:t>
            </a:r>
          </a:p>
          <a:p>
            <a:r>
              <a:rPr lang="en-GB" b="1" dirty="0"/>
              <a:t>Who owns the zebra? </a:t>
            </a:r>
          </a:p>
        </p:txBody>
      </p:sp>
    </p:spTree>
    <p:extLst>
      <p:ext uri="{BB962C8B-B14F-4D97-AF65-F5344CB8AC3E}">
        <p14:creationId xmlns:p14="http://schemas.microsoft.com/office/powerpoint/2010/main" val="149686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A963-9BEF-4183-42A9-E5B9658A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11606048" cy="632219"/>
          </a:xfrm>
        </p:spPr>
        <p:txBody>
          <a:bodyPr/>
          <a:lstStyle/>
          <a:p>
            <a:r>
              <a:rPr lang="en-US" dirty="0"/>
              <a:t>Graphical Representations of Knowledge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C41DD5-A4E6-29C8-2B6F-086839C8A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919ED9-55D3-083A-2BCE-F4B38254F4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1014" y="1288486"/>
            <a:ext cx="6454586" cy="485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9B34D4-BDB0-F547-4C81-4D7A3C2452A7}"/>
              </a:ext>
            </a:extLst>
          </p:cNvPr>
          <p:cNvSpPr txBox="1"/>
          <p:nvPr/>
        </p:nvSpPr>
        <p:spPr>
          <a:xfrm>
            <a:off x="103271" y="6320983"/>
            <a:ext cx="81234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https://commons.wikimedia.org/wiki/File:Conceptual_Diagram_-_Example.svg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Original image by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Jayarintha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GB" sz="12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licensed under the </a:t>
            </a:r>
            <a:r>
              <a:rPr lang="en-GB" sz="1200" b="0" i="0" u="none" strike="noStrike" dirty="0">
                <a:solidFill>
                  <a:srgbClr val="66336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4" tooltip="w:en:Creative Commons"/>
              </a:rPr>
              <a:t>Creative Commons</a:t>
            </a:r>
            <a:r>
              <a:rPr lang="en-GB" sz="12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GB" sz="1200" b="0" i="0" u="none" strike="noStrike" dirty="0">
                <a:solidFill>
                  <a:srgbClr val="66336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5" tooltip="creativecommons:by-sa/4.0/deed.en"/>
              </a:rPr>
              <a:t>Attribution-Share Alike 4.0 International</a:t>
            </a:r>
            <a:r>
              <a:rPr lang="en-GB" sz="12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license.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3710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C9A62-E561-51B6-9EDD-F13FF08F6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362903" cy="632219"/>
          </a:xfrm>
        </p:spPr>
        <p:txBody>
          <a:bodyPr/>
          <a:lstStyle/>
          <a:p>
            <a:r>
              <a:rPr lang="en-US" dirty="0"/>
              <a:t>Causal Reasoning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6C28BC-6D00-3057-4E91-E3130D037A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If it is raining I carry an umbrella</a:t>
            </a:r>
          </a:p>
          <a:p>
            <a:r>
              <a:rPr lang="en-US" sz="2000" dirty="0"/>
              <a:t>It isn’t raining</a:t>
            </a:r>
          </a:p>
          <a:p>
            <a:r>
              <a:rPr lang="en-US" sz="2000" dirty="0"/>
              <a:t>Therefore …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It is raining.</a:t>
            </a:r>
          </a:p>
          <a:p>
            <a:r>
              <a:rPr lang="en-US" sz="2000" dirty="0"/>
              <a:t>Everyone is carrying an umbrella.</a:t>
            </a:r>
          </a:p>
          <a:p>
            <a:r>
              <a:rPr lang="en-US" sz="2000" dirty="0"/>
              <a:t>Therefore, umbrellas cause rain.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7" name="Picture Placeholder 6" descr="Person holding and standing under umbrella in rain, wearing outdoor jacket">
            <a:extLst>
              <a:ext uri="{FF2B5EF4-FFF2-40B4-BE49-F238E27FC236}">
                <a16:creationId xmlns:a16="http://schemas.microsoft.com/office/drawing/2014/main" id="{C1E493F8-6512-34E8-A1DF-0B4EB716BEB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20785" r="20785"/>
          <a:stretch>
            <a:fillRect/>
          </a:stretch>
        </p:blipFill>
        <p:spPr/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B56E30-C871-224B-8292-C2E494784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8" name="Picture 4" descr="Directed acyclic graph - Wikipedia">
            <a:extLst>
              <a:ext uri="{FF2B5EF4-FFF2-40B4-BE49-F238E27FC236}">
                <a16:creationId xmlns:a16="http://schemas.microsoft.com/office/drawing/2014/main" id="{9919D384-09FC-22FF-A023-23BFF72CCD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5182" y="4602780"/>
            <a:ext cx="1385716" cy="1903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undefined">
            <a:extLst>
              <a:ext uri="{FF2B5EF4-FFF2-40B4-BE49-F238E27FC236}">
                <a16:creationId xmlns:a16="http://schemas.microsoft.com/office/drawing/2014/main" id="{B2B2A22C-6268-7C12-1A22-4180E4FCF4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048" y="4894583"/>
            <a:ext cx="2678787" cy="1711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9088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346244" cy="6322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GB" sz="2400" dirty="0">
                <a:solidFill>
                  <a:schemeClr val="tx2"/>
                </a:solidFill>
                <a:effectLst/>
              </a:rPr>
              <a:t>Successful students will be able to:</a:t>
            </a:r>
          </a:p>
          <a:p>
            <a:endParaRPr lang="en-GB" sz="2400" dirty="0">
              <a:solidFill>
                <a:schemeClr val="tx2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Gain a systematic understanding of knowledge, principles and procedures of knowledge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Demonstrate a critical awareness and evaluation of current and complex issues and developments in knowledge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Demonstrate critical understanding of research techniques in knowledge engineering and ability to critically evaluate them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Demonstrate innovative application of the knowledge, principles and procedures of knowledge engineering in making sound judgements and proposing new hypotheses</a:t>
            </a: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893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346244" cy="632219"/>
          </a:xfrm>
        </p:spPr>
        <p:txBody>
          <a:bodyPr/>
          <a:lstStyle/>
          <a:p>
            <a:r>
              <a:rPr lang="en-US" dirty="0"/>
              <a:t>Outline Syllabus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Logic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Propositional logic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First order logic 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latin typeface="Helvetica" pitchFamily="2" charset="0"/>
              </a:rPr>
              <a:t>Natural Deduction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Automated Reasoning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Knowledge and knowledge representation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Knowledge Bases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latin typeface="Helvetica" pitchFamily="2" charset="0"/>
              </a:rPr>
              <a:t>Knowledge Graphs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Large Language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Reasoning under Uncertainty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Probabilities, conditional independence;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Bayesian networks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Causal Reasoning (if time)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6057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746067" cy="632219"/>
          </a:xfrm>
        </p:spPr>
        <p:txBody>
          <a:bodyPr/>
          <a:lstStyle/>
          <a:p>
            <a:r>
              <a:rPr lang="en-US" dirty="0"/>
              <a:t>How the Course will be Taught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Lectures will be kept short-</a:t>
            </a:r>
            <a:r>
              <a:rPr lang="en-US" sz="2000" dirty="0" err="1">
                <a:solidFill>
                  <a:schemeClr val="tx2"/>
                </a:solidFill>
              </a:rPr>
              <a:t>ish</a:t>
            </a:r>
            <a:r>
              <a:rPr lang="en-US" sz="2000" dirty="0">
                <a:solidFill>
                  <a:schemeClr val="tx2"/>
                </a:solidFill>
              </a:rPr>
              <a:t> and single topic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There are extensive written notes on canvas. You need to read these.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Lots of problems to work though – some paper-based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Plenty of live coding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We will code almost everything ourselves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 libraries for this are bad/nonexistent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Coding develops understanding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 a little more Python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8104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746067" cy="632219"/>
          </a:xfrm>
        </p:spPr>
        <p:txBody>
          <a:bodyPr/>
          <a:lstStyle/>
          <a:p>
            <a:r>
              <a:rPr lang="en-US" dirty="0"/>
              <a:t>Assessment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Single Assessment due Monday 9/16 December at 0900.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Released </a:t>
            </a:r>
            <a:r>
              <a:rPr lang="en-US" sz="2400" dirty="0">
                <a:solidFill>
                  <a:schemeClr val="tx2"/>
                </a:solidFill>
              </a:rPr>
              <a:t>at 0900 on </a:t>
            </a:r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Wednesday this week – we will have a session to introduce the assessment and allow you to ask questions and start work on 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Every week will include one session when you can ask questions and work on the assessment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exercises and assessments are chosen to test your skills and understanding, not to test your domain knowledge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1664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F420-8FD3-BC84-2159-1284AA65D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6466490" cy="632219"/>
          </a:xfrm>
        </p:spPr>
        <p:txBody>
          <a:bodyPr/>
          <a:lstStyle/>
          <a:p>
            <a:r>
              <a:rPr lang="en-GB" dirty="0"/>
              <a:t>Can you solve them?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1FD57-5AF8-9A86-3EDF-8AB6AB7AE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493917A6-42C9-39B1-6F89-C62C24F98C9C}"/>
              </a:ext>
            </a:extLst>
          </p:cNvPr>
          <p:cNvGraphicFramePr>
            <a:graphicFrameLocks noGrp="1"/>
          </p:cNvGraphicFramePr>
          <p:nvPr/>
        </p:nvGraphicFramePr>
        <p:xfrm>
          <a:off x="1920105" y="1723850"/>
          <a:ext cx="3580092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7788">
                  <a:extLst>
                    <a:ext uri="{9D8B030D-6E8A-4147-A177-3AD203B41FA5}">
                      <a16:colId xmlns:a16="http://schemas.microsoft.com/office/drawing/2014/main" val="367807435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699260231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15861596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469432819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252918278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820923377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778976473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168917412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595603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1563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24959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818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986116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48041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7305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D6000D"/>
                          </a:solidFill>
                        </a:rPr>
                        <a:t>?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25398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659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95412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DB4810C-7148-1911-8147-F936F583E8DE}"/>
              </a:ext>
            </a:extLst>
          </p:cNvPr>
          <p:cNvSpPr txBox="1"/>
          <p:nvPr/>
        </p:nvSpPr>
        <p:spPr>
          <a:xfrm>
            <a:off x="7243380" y="413776"/>
            <a:ext cx="492584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Einstein’s Riddle</a:t>
            </a:r>
          </a:p>
          <a:p>
            <a:pPr>
              <a:buFont typeface="+mj-lt"/>
              <a:buAutoNum type="arabicPeriod"/>
            </a:pPr>
            <a:r>
              <a:rPr lang="en-GB" dirty="0"/>
              <a:t>There are five houses.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Englishman lives in the red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Spaniard owns the dog.</a:t>
            </a:r>
          </a:p>
          <a:p>
            <a:pPr>
              <a:buFont typeface="+mj-lt"/>
              <a:buAutoNum type="arabicPeriod"/>
            </a:pPr>
            <a:r>
              <a:rPr lang="en-GB" dirty="0"/>
              <a:t>Coffee is drunk in the green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Ukrainian drinks tea.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green house is immediately to the right of the ivory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Old Gold smoker owns snails.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yellow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Milk is drunk in the middle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in the first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man who smokes Chesterfields lives in the house next to the man with the fox.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house next to the house where the horse is kept.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Lucky Strike smoker drinks orange juice.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Japanese smokes Parliaments.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next to the blue house.</a:t>
            </a:r>
          </a:p>
          <a:p>
            <a:endParaRPr lang="en-GB" dirty="0"/>
          </a:p>
          <a:p>
            <a:r>
              <a:rPr lang="en-GB" b="1" dirty="0"/>
              <a:t>Who drinks water?</a:t>
            </a:r>
          </a:p>
          <a:p>
            <a:r>
              <a:rPr lang="en-GB" b="1" dirty="0"/>
              <a:t>Who owns the zebra? </a:t>
            </a:r>
          </a:p>
        </p:txBody>
      </p:sp>
    </p:spTree>
    <p:extLst>
      <p:ext uri="{BB962C8B-B14F-4D97-AF65-F5344CB8AC3E}">
        <p14:creationId xmlns:p14="http://schemas.microsoft.com/office/powerpoint/2010/main" val="212635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EF30F6-B75A-20BC-FD9A-02D24F73D1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Exercise: Are you Logical?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9D767-F10E-54CA-9634-06E9AF24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2987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438D0-F832-F2BF-DC7D-C0A09355B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884738" cy="632219"/>
          </a:xfrm>
        </p:spPr>
        <p:txBody>
          <a:bodyPr/>
          <a:lstStyle/>
          <a:p>
            <a:r>
              <a:rPr lang="en-US" dirty="0"/>
              <a:t>What reasoning abilities did you use?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E520D-F1B0-A8BE-0DB8-734FB90E0B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Do these tasks require intelligence?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What do they have in common?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Knowledge acquired incrementally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When new knowledge is discovered, have to revisit old knowledge to draw conclusions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write computer programs to solve them?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write one computer program that will solve them all?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Why are games like these relevant to real-world problems?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14C32-8649-7752-5D48-8A5FD4AEC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925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Why, in an era of big data, do we need to study logic?</a:t>
            </a: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Are models learned from data always correct?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What if we need provably correct results?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True intelligence needs to be able to </a:t>
            </a:r>
            <a:r>
              <a:rPr b="1" dirty="0"/>
              <a:t>reason</a:t>
            </a:r>
            <a:r>
              <a:rPr dirty="0"/>
              <a:t> </a:t>
            </a:r>
            <a:r>
              <a:rPr dirty="0" err="1"/>
              <a:t>rigourously</a:t>
            </a:r>
            <a:r>
              <a:rPr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Monte-Carlo tree search in AlphaGo . a Each simulation traverses the tree by selecting the edge with maximum action-value Q , plus a bonus u ( P ) that depends on a stored prior probability P for that edge. b The leaf node may be expanded; the new node is processed once by the policy network p σ and the output probabilities are stored as prior probabilities P for each action. ">
            <a:extLst>
              <a:ext uri="{FF2B5EF4-FFF2-40B4-BE49-F238E27FC236}">
                <a16:creationId xmlns:a16="http://schemas.microsoft.com/office/drawing/2014/main" id="{487B3CCE-E903-8AFF-ED45-B52E11457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314" y="4084660"/>
            <a:ext cx="5929686" cy="2016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1313" cy="632219"/>
          </a:xfrm>
        </p:spPr>
        <p:txBody>
          <a:bodyPr/>
          <a:lstStyle/>
          <a:p>
            <a:r>
              <a:rPr dirty="0"/>
              <a:t>Symbol Manipulation and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0" y="1107853"/>
            <a:ext cx="5602357" cy="4905623"/>
          </a:xfrm>
        </p:spPr>
        <p:txBody>
          <a:bodyPr>
            <a:normAutofit fontScale="92500" lnSpcReduction="10000"/>
          </a:bodyPr>
          <a:lstStyle/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Early AI researchers regarded reasoning as central to intelligence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Minsky, McCarthy et al placed great emphasis on symbol manipulation</a:t>
            </a: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dirty="0"/>
              <a:t>Expert systems were very popular in the 1970s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Why?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And why did </a:t>
            </a:r>
            <a:r>
              <a:rPr lang="en-US" dirty="0"/>
              <a:t>symbolic AI</a:t>
            </a:r>
            <a:r>
              <a:rPr dirty="0"/>
              <a:t> </a:t>
            </a:r>
            <a:r>
              <a:rPr lang="en-US" dirty="0"/>
              <a:t>"</a:t>
            </a:r>
            <a:r>
              <a:rPr dirty="0"/>
              <a:t>fail</a:t>
            </a:r>
            <a:r>
              <a:rPr lang="en-US" dirty="0"/>
              <a:t>"</a:t>
            </a:r>
            <a:r>
              <a:rPr dirty="0"/>
              <a:t>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Lots of current effort to get ML systems to do symbol manipulation</a:t>
            </a:r>
            <a:endParaRPr lang="en-US" dirty="0"/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GB" dirty="0"/>
              <a:t>AlphaGo, </a:t>
            </a:r>
            <a:r>
              <a:rPr lang="en-GB" dirty="0" err="1"/>
              <a:t>AlphaFold</a:t>
            </a:r>
            <a:r>
              <a:rPr lang="en-GB" dirty="0"/>
              <a:t> both include elements of symbolic reasoning</a:t>
            </a:r>
            <a:endParaRPr dirty="0"/>
          </a:p>
        </p:txBody>
      </p:sp>
      <p:pic>
        <p:nvPicPr>
          <p:cNvPr id="1026" name="Picture 2" descr="How John McCarthy Shaped the Future of AI">
            <a:extLst>
              <a:ext uri="{FF2B5EF4-FFF2-40B4-BE49-F238E27FC236}">
                <a16:creationId xmlns:a16="http://schemas.microsoft.com/office/drawing/2014/main" id="{194228E6-628D-208D-896B-DB06697B76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898" y="1107853"/>
            <a:ext cx="3827280" cy="2618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81419"/>
            <a:ext cx="9299713" cy="632219"/>
          </a:xfrm>
        </p:spPr>
        <p:txBody>
          <a:bodyPr/>
          <a:lstStyle/>
          <a:p>
            <a:r>
              <a:rPr dirty="0"/>
              <a:t>Logic and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1"/>
            <a:r>
              <a:rPr lang="en-US" dirty="0"/>
              <a:t>“If intelligence requires reasoning</a:t>
            </a:r>
          </a:p>
          <a:p>
            <a:pPr lvl="1"/>
            <a:r>
              <a:rPr lang="en-US" dirty="0"/>
              <a:t>And logic is the study of reasoning</a:t>
            </a:r>
          </a:p>
          <a:p>
            <a:pPr lvl="1"/>
            <a:r>
              <a:rPr lang="en-US" dirty="0"/>
              <a:t>Then…?”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dirty="0"/>
              <a:t>A more cliched example: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lvl="1"/>
            <a:r>
              <a:rPr dirty="0"/>
              <a:t>Socrates is a man</a:t>
            </a:r>
          </a:p>
          <a:p>
            <a:pPr lvl="1"/>
            <a:r>
              <a:rPr dirty="0"/>
              <a:t>All men are mortal</a:t>
            </a:r>
          </a:p>
          <a:p>
            <a:pPr lvl="1"/>
            <a:r>
              <a:rPr lang="en-US" dirty="0"/>
              <a:t>	</a:t>
            </a:r>
            <a:r>
              <a:rPr dirty="0"/>
              <a:t>…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A</a:t>
            </a:r>
            <a:r>
              <a:rPr dirty="0"/>
              <a:t> </a:t>
            </a:r>
            <a:r>
              <a:rPr b="1" dirty="0"/>
              <a:t>deductive truth</a:t>
            </a:r>
            <a:r>
              <a:rPr lang="en-US" b="1" dirty="0"/>
              <a:t>.</a:t>
            </a: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Should AI systems be able to do this?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BF836-CC6C-33CD-3D4D-1706688C0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324FA-482F-91A2-2909-DE7922FFD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F656D8-FAE4-7060-1272-E6D23C15E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225360-FC24-B3CC-753D-91599866EFE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24635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Propositional Logic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Humans know facts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GB" sz="2400" b="0" dirty="0">
                <a:solidFill>
                  <a:schemeClr val="tx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- It is colder in the winter than in the summer.</a:t>
            </a:r>
          </a:p>
          <a:p>
            <a:pPr marL="0" indent="0">
              <a:buNone/>
            </a:pPr>
            <a:r>
              <a:rPr lang="en-GB" sz="2400" b="0" dirty="0">
                <a:solidFill>
                  <a:schemeClr val="tx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- Mount Everest is the tallest mountain in the world.</a:t>
            </a:r>
          </a:p>
          <a:p>
            <a:pPr marL="0" indent="0">
              <a:buNone/>
            </a:pPr>
            <a:r>
              <a:rPr lang="en-GB" sz="2400" b="0" dirty="0">
                <a:solidFill>
                  <a:schemeClr val="tx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- Water makes you wet.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Facts are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grounded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: we know what a mountain is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How do these facts differ from data?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458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Propositional Logic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Humans can reason over facts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We can make decisions and draw conclusions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Can we get computers to do the same?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Computers require a formal language: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Logic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Logic – the study of correct reasoning- will allow us to formally represent facts and reason about them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Propositional Logic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a simple form of logic that allows us to do just this</a:t>
            </a:r>
            <a:endParaRPr lang="en-US" b="1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14419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Propositions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 proposition is a statement that can be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True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or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False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It is colder in the winter than in the summer.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Mount Everest is the tallest mountain in the world.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Water makes you wet.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Premise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is a stated proposition and is like an axiom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Conclusion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is derived purely from the premise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	Socrates is a man [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Premise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]   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	All men are mortal [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Premise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]  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	Therefore, Socrates is mortal [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Conclusion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]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2811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Connectives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“Water makes you wet” is an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atomic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proposition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We can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connect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these together to get new compound propositions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 car is blue and </a:t>
            </a:r>
            <a:r>
              <a:rPr lang="en-US" dirty="0" err="1">
                <a:solidFill>
                  <a:schemeClr val="tx1">
                    <a:lumMod val="50000"/>
                  </a:schemeClr>
                </a:solidFill>
              </a:rPr>
              <a:t>fuelled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by petrol (The car is blue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and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 car is </a:t>
            </a:r>
            <a:r>
              <a:rPr lang="en-US" dirty="0" err="1">
                <a:solidFill>
                  <a:schemeClr val="tx1">
                    <a:lumMod val="50000"/>
                  </a:schemeClr>
                </a:solidFill>
              </a:rPr>
              <a:t>fuelled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by petrol)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Books have hard or soft covers (Books have hard covers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or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books have soft covers)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If the sun is shining then it is daytime (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If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the sun is shining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then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it is daytime)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8216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Correctness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If we use correct reasoning, if the premises of an argument are true then its conclusion must be True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Socrates is a man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All men are mortal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 Socrates is mortal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our reasoning correct: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red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All apples are tasty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Therefore, all red apples are tasty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96265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291040" cy="632219"/>
          </a:xfrm>
        </p:spPr>
        <p:txBody>
          <a:bodyPr/>
          <a:lstStyle/>
          <a:p>
            <a:r>
              <a:rPr lang="en-US" dirty="0"/>
              <a:t>Validity and Soundness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our reasoning correct: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red 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tasty 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Therefore, some red apples are tasty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This is an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INVALID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argument</a:t>
            </a:r>
          </a:p>
          <a:p>
            <a:pPr marL="171445" lvl="1"/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our reasoning correct:</a:t>
            </a:r>
          </a:p>
          <a:p>
            <a:pPr marL="971533" lvl="2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All apples are red </a:t>
            </a:r>
          </a:p>
          <a:p>
            <a:pPr marL="971533" lvl="2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tasty </a:t>
            </a:r>
          </a:p>
          <a:p>
            <a:pPr marL="971533" lvl="2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Therefore, some red apples are tasty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This is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VALID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but is not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SOUND</a:t>
            </a: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628633" lvl="2"/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171445" lvl="1"/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CORRECT DEDUCTIVE REASONING MUST BE BOTH VALID AND SOUND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355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EF30F6-B75A-20BC-FD9A-02D24F73D1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Exercise: Elementary, my dear Watson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9D767-F10E-54CA-9634-06E9AF24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94230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BDC4C-C32C-32D5-B8CE-E25BC1F01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C5D7C-5389-8192-C419-5E984741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A11E51-9A4B-2755-8FB0-DEBB969C85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05E9AC-DF6F-2DEC-C2DA-FFDC7A0262C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2371962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Formal Propositional Logic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Humans are excellent at reasoning using natural language, but machines are not.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To automate deductive reasoning, we need to reduce it to symbol manipulation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One symbol to represent each atomic proposition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Each symbol can be True or False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8079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9766610" cy="632219"/>
          </a:xfrm>
        </p:spPr>
        <p:txBody>
          <a:bodyPr/>
          <a:lstStyle/>
          <a:p>
            <a:r>
              <a:rPr lang="en-US" dirty="0"/>
              <a:t>Making Logical Arguments Formal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2400" i="1" dirty="0">
                <a:solidFill>
                  <a:schemeClr val="tx1">
                    <a:lumMod val="50000"/>
                  </a:schemeClr>
                </a:solidFill>
              </a:rPr>
              <a:t>If it is not raining and I am going outdoors then I do not take a coat or an umbrella.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What are the atomic propositions?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It is raining 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 am going outdoors 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 will take a coat 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 will take an umbrella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Each can be True or False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0336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Logical Connectives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/>
              <a:lstStyle/>
              <a:p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If it is not raining and I am going outdoors then I do not take a coat or an umbrella.</a:t>
                </a:r>
              </a:p>
              <a:p>
                <a:endParaRPr lang="en-GB" b="0" dirty="0">
                  <a:solidFill>
                    <a:srgbClr val="CCCCCC"/>
                  </a:solidFill>
                  <a:effectLst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In terms of the atomic propositions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R, O, C, U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we can write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:</a:t>
                </a:r>
              </a:p>
              <a:p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algn="ctr"/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if ((not R) and O) then not (C or U)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Four logical connectives are used here. We will assign them symbols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Not (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Negation):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False, and False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And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(Conjunction):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 only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True and is otherwise False</a:t>
                </a: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Or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(Disjunction):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either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or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Q,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or both of them are True and is only False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False.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Material Implication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(if):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000" b="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000" b="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 except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False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724" t="-1292" r="-965" b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95683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Truth Tables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1A3E9-3A89-BC53-C1D5-0B2280F15D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</a:schemeClr>
                </a:solidFill>
              </a:rPr>
              <a:t>The effect of Logical connectives is best illustrated by their Truth Tables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</a:schemeClr>
                </a:solidFill>
              </a:rPr>
              <a:t>A Truth table tells us whether a Compound proposition is True or False depending on the Truth of the compound propositions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000" i="1" dirty="0">
                <a:solidFill>
                  <a:schemeClr val="tx1">
                    <a:lumMod val="50000"/>
                  </a:schemeClr>
                </a:solidFill>
              </a:rPr>
              <a:t>Is the statement “if it is cold I wear a hat” True or False if the statements “I am wearing a hat” and “it is not cold” are both true?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</a:schemeClr>
                </a:solidFill>
              </a:rPr>
              <a:t>Understanding these will help us to model our knowledge using propositions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i="1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3670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Negation (Not)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The simplest connective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A unary operator that changes a proposition from True to False or from False to True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False, and False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13668" y="3104930"/>
              <a:ext cx="5249748" cy="23682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4874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2624874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</a:tblGrid>
                  <a:tr h="50806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i="1" dirty="0" smtClean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400" b="0" i="1" dirty="0" smtClean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oMath>
                          </a14:m>
                          <a:r>
                            <a:rPr lang="en-US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 </a:t>
                          </a:r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21105753"/>
                  </p:ext>
                </p:extLst>
              </p:nvPr>
            </p:nvGraphicFramePr>
            <p:xfrm>
              <a:off x="3113668" y="3104930"/>
              <a:ext cx="5249748" cy="23682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4874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2624874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83" t="-6154" r="-966" b="-190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844795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Conjunction (And)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A binary operator (connects two propositions)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 only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True and is otherwise False</a:t>
                </a: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50806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dirty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400" b="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0592078"/>
                  </p:ext>
                </p:extLst>
              </p:nvPr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6154" r="-1923" b="-37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905564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Disjunction (Or)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A binary operator (connects two propositions)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either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or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Q,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or both of them are True and is only False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False</a:t>
                </a: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 r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50806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US" sz="240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7409648"/>
                  </p:ext>
                </p:extLst>
              </p:nvPr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6154" r="-1923" b="-37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79776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Material Implication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3"/>
                <a:ext cx="10502589" cy="4278185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More subtle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read as “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if P then 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”.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Not the same as </a:t>
                </a:r>
                <a:r>
                  <a:rPr lang="en-US" sz="2000" b="1" dirty="0" err="1">
                    <a:solidFill>
                      <a:schemeClr val="tx1">
                        <a:lumMod val="50000"/>
                      </a:schemeClr>
                    </a:solidFill>
                  </a:rPr>
                  <a:t>if..then</a:t>
                </a: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 in programming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No native Python operator.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Can you write a lambda function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implies(P,Q)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3"/>
                <a:ext cx="10502589" cy="4278185"/>
              </a:xfrm>
              <a:blipFill>
                <a:blip r:embed="rId2"/>
                <a:stretch>
                  <a:fillRect l="-605" t="-1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707969" y="92442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2007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⟹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6084548"/>
                  </p:ext>
                </p:extLst>
              </p:nvPr>
            </p:nvGraphicFramePr>
            <p:xfrm>
              <a:off x="7707969" y="92442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99038" t="-4615" r="-2885" b="-37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372465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Biconditional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Not needed in our example, but quite common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read as “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 </a:t>
                </a:r>
                <a:r>
                  <a:rPr lang="en-US" sz="2000" i="1" dirty="0" err="1">
                    <a:solidFill>
                      <a:schemeClr val="tx1">
                        <a:lumMod val="50000"/>
                      </a:schemeClr>
                    </a:solidFill>
                  </a:rPr>
                  <a:t>iff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”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Not the same as </a:t>
                </a:r>
                <a:r>
                  <a:rPr lang="en-US" sz="2000" b="1" dirty="0" err="1">
                    <a:solidFill>
                      <a:schemeClr val="tx1">
                        <a:lumMod val="50000"/>
                      </a:schemeClr>
                    </a:solidFill>
                  </a:rPr>
                  <a:t>if..then</a:t>
                </a: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 in programming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33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92043353"/>
                  </p:ext>
                </p:extLst>
              </p:nvPr>
            </p:nvGraphicFramePr>
            <p:xfrm>
              <a:off x="3626623" y="2686613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2007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⟺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92043353"/>
                  </p:ext>
                </p:extLst>
              </p:nvPr>
            </p:nvGraphicFramePr>
            <p:xfrm>
              <a:off x="3626623" y="2686613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6154" r="-1923" b="-3769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02893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Back to our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1A3E9-3A89-BC53-C1D5-0B2280F15D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0502589" cy="5368727"/>
          </a:xfrm>
        </p:spPr>
        <p:txBody>
          <a:bodyPr/>
          <a:lstStyle/>
          <a:p>
            <a:r>
              <a:rPr lang="en-US" sz="2000" i="1" dirty="0">
                <a:solidFill>
                  <a:schemeClr val="tx1">
                    <a:lumMod val="50000"/>
                  </a:schemeClr>
                </a:solidFill>
              </a:rPr>
              <a:t>If it is not raining and I am going outdoors then I do not take a coat or an umbrella.</a:t>
            </a:r>
          </a:p>
          <a:p>
            <a:pPr algn="ctr"/>
            <a:r>
              <a:rPr lang="en-US" sz="2000" dirty="0">
                <a:solidFill>
                  <a:schemeClr val="tx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((not R) and O) then not (C or U)</a:t>
            </a: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2000" b="1" dirty="0">
                <a:solidFill>
                  <a:schemeClr val="tx1">
                    <a:lumMod val="50000"/>
                  </a:schemeClr>
                </a:solidFill>
              </a:rPr>
              <a:t>Exercise: Can you compute the Truth Table for this?</a:t>
            </a: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26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68AA1-B0FB-5BAC-DA47-BB3695E02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35</a:t>
            </a:fld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109018-63B3-9D7B-F807-98FD0E63B8CE}"/>
              </a:ext>
            </a:extLst>
          </p:cNvPr>
          <p:cNvGraphicFramePr>
            <a:graphicFrameLocks noGrp="1"/>
          </p:cNvGraphicFramePr>
          <p:nvPr/>
        </p:nvGraphicFramePr>
        <p:xfrm>
          <a:off x="2031999" y="173014"/>
          <a:ext cx="8128001" cy="629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2176124927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94415327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7740345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38964731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400584875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329141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028643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2783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4073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521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2821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608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87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0612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718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439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5569028"/>
                  </a:ext>
                </a:extLst>
              </a:tr>
              <a:tr h="34271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906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5628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179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98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205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3517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421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1095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EF30F6-B75A-20BC-FD9A-02D24F73D1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Exercise: Formal Dinners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9D767-F10E-54CA-9634-06E9AF24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352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1AA46-B817-7A8F-ECEB-07112B15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CF93B-738E-D304-39A2-3B7A9397D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217792-2C0C-600E-55F2-C075E64F0E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DE0DB-8A02-870B-BABD-3F7D73ACAA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17787852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277BE-0A7C-A4F9-E8FE-CD2FEDEDE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 Bases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E296C-566B-CCB2-3DDF-8B255E322C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We have now studied enough knowledge to build a </a:t>
            </a:r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knowledge base</a:t>
            </a: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What exactly do we mean by this?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We introduce the concept of an intelligent </a:t>
            </a:r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agent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 agent lives in some abstract world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chess board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Roomba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medical database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 agent has a goal that it must achieve.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352DF-788C-AC1E-E5E7-9A897260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35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FA3F-43EC-43EC-7385-90D1E72CE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990909" cy="632219"/>
          </a:xfrm>
        </p:spPr>
        <p:txBody>
          <a:bodyPr/>
          <a:lstStyle/>
          <a:p>
            <a:r>
              <a:rPr lang="en-US" dirty="0"/>
              <a:t>How can agents achieve their goals?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CFC84-0840-C3BB-E249-1FE2C2B1F0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Examples of agent goals: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Capture the opponent’s King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Vacuum the entire floor area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Find a combination of medicines for a set of symptoms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agent must be able to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Observe its environment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opponent’s King is on square E8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cat’s bed is in the corner by the heater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Medicines X addresses disease Y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Ask question about its environment to determine new knowledge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I move my knight to A6, what could happen?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Medicines A and B address diseases X and Y but should not be taken together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Reason over the knowledge to ask a set of questions that enable decisions to be taken that achieve the goal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739DEC-ECDD-D539-8328-888895C2E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111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FA3F-43EC-43EC-7385-90D1E72CE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990909" cy="632219"/>
          </a:xfrm>
        </p:spPr>
        <p:txBody>
          <a:bodyPr/>
          <a:lstStyle/>
          <a:p>
            <a:r>
              <a:rPr lang="en-US" dirty="0"/>
              <a:t>Knowledge Bases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CFC84-0840-C3BB-E249-1FE2C2B1F0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knowledge base records what the agent knows as a set of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propositions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may contain some prior information (premises)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is written in formal notation to enable computation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agent can update it as it discovers new things about the world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agent aims to find one or more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that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the knowledge base True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Let’s develop an example: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739DEC-ECDD-D539-8328-888895C2E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18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597ED-4D3C-995A-D281-C057F31D1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Familiar Riddle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D71E5E-BC56-DA14-B447-88522D39F9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Ahmed, Niamh, and Xin are three friends. They went for dinner together. Each of them ordered a main course (stew, </a:t>
            </a:r>
            <a:r>
              <a:rPr lang="en-GB" sz="2000" b="0" dirty="0" err="1">
                <a:solidFill>
                  <a:schemeClr val="tx1">
                    <a:lumMod val="50000"/>
                  </a:schemeClr>
                </a:solidFill>
                <a:effectLst/>
              </a:rPr>
              <a:t>daal</a:t>
            </a:r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, falafel) and a dessert (ice cream, apple pie, cheesecake. They each ordered a different main course and a different dessert. Use the following information to deduce who ordered what:</a:t>
            </a:r>
          </a:p>
          <a:p>
            <a:b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</a:br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1. The person who ordered the stew did not order the apple pie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2. Niamh ordered the Dhal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3. Ahmed ordered the ice cream or the apple pie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4. Xin did not order either the ice cream or the cheesecake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5. The person who ordered the ice cream did not order the falafel</a:t>
            </a:r>
          </a:p>
          <a:p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000" b="1" dirty="0">
                <a:solidFill>
                  <a:schemeClr val="tx1">
                    <a:lumMod val="50000"/>
                  </a:schemeClr>
                </a:solidFill>
              </a:rPr>
              <a:t>Can you formalize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424952-CC75-0E51-7C14-170B245D8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0047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1DC4-52E4-677B-B070-F8719457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66E26-5DA6-93F3-5E1E-54D27EE5A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E62B5B-AA6A-7F5E-8535-EDA8E2E84BF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E61D8B-F3DE-8CE0-0A43-CB26647227A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8329987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Proofs in Logic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1"/>
            <a:r>
              <a:rPr lang="en-US" dirty="0"/>
              <a:t>All men are mortal</a:t>
            </a:r>
          </a:p>
          <a:p>
            <a:pPr lvl="1"/>
            <a:r>
              <a:rPr lang="en-US" dirty="0"/>
              <a:t>Socrates is a man</a:t>
            </a:r>
          </a:p>
          <a:p>
            <a:pPr lvl="1"/>
            <a:r>
              <a:rPr lang="en-US" dirty="0"/>
              <a:t>Therefore Socrates is mortal</a:t>
            </a:r>
          </a:p>
          <a:p>
            <a:pPr lvl="1"/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We claim that this is sound and valid argument, but how do we</a:t>
            </a:r>
            <a:r>
              <a:rPr lang="en-US" b="1" dirty="0"/>
              <a:t> know</a:t>
            </a:r>
            <a:r>
              <a:rPr lang="en-US" dirty="0"/>
              <a:t> this?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Soundness is a matter of the truth of the propositions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Validity is whether the reasoning is correct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How can we unambiguously determine the validity of an argument?</a:t>
            </a:r>
          </a:p>
          <a:p>
            <a:pPr lvl="1"/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4576947" cy="4905623"/>
          </a:xfrm>
        </p:spPr>
        <p:txBody>
          <a:bodyPr/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It is cold</a:t>
            </a:r>
          </a:p>
          <a:p>
            <a:pPr lvl="1"/>
            <a:r>
              <a:rPr lang="en-US" i="1" dirty="0"/>
              <a:t>Therefore, I wear a jacket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11799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39726-33B0-19CD-365F-EF8FA0C0B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Checking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CB1AC-97BF-F1F8-744C-CB29D0DEE3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Each line of the truth table is called a </a:t>
            </a:r>
            <a:r>
              <a:rPr lang="en-US" sz="2400" b="1" dirty="0">
                <a:solidFill>
                  <a:schemeClr val="tx2"/>
                </a:solidFill>
              </a:rPr>
              <a:t>model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All arguments can be </a:t>
            </a:r>
            <a:r>
              <a:rPr lang="en-US" sz="2400" dirty="0" err="1">
                <a:solidFill>
                  <a:schemeClr val="tx2"/>
                </a:solidFill>
              </a:rPr>
              <a:t>rigourously</a:t>
            </a:r>
            <a:r>
              <a:rPr lang="en-US" sz="2400" dirty="0">
                <a:solidFill>
                  <a:schemeClr val="tx2"/>
                </a:solidFill>
              </a:rPr>
              <a:t> checked by </a:t>
            </a:r>
            <a:r>
              <a:rPr lang="en-US" sz="2400" b="1" dirty="0">
                <a:solidFill>
                  <a:schemeClr val="tx2"/>
                </a:solidFill>
              </a:rPr>
              <a:t>enumerating all possible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An argument is valid </a:t>
            </a:r>
            <a:r>
              <a:rPr lang="en-US" sz="2400" dirty="0" err="1">
                <a:solidFill>
                  <a:schemeClr val="tx2"/>
                </a:solidFill>
              </a:rPr>
              <a:t>iff</a:t>
            </a:r>
            <a:r>
              <a:rPr lang="en-US" sz="2400" dirty="0">
                <a:solidFill>
                  <a:schemeClr val="tx2"/>
                </a:solidFill>
              </a:rPr>
              <a:t> there is at least one model for which all of the premises are True and the conclusion is True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This is known as </a:t>
            </a:r>
            <a:r>
              <a:rPr lang="en-US" sz="2400" b="1" dirty="0">
                <a:solidFill>
                  <a:schemeClr val="tx2"/>
                </a:solidFill>
              </a:rPr>
              <a:t>model checking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gold standard, but nearly always impractical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3E14D-FA13-700A-7D85-0FC270CEA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959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39726-33B0-19CD-365F-EF8FA0C0B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Checking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CB1AC-97BF-F1F8-744C-CB29D0DEE3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One way around the combinatorial explosion problem is to identify common parts of an argument, model check those, and then use them as part of a larger argument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Consider our earlier argument (written in </a:t>
            </a:r>
            <a:r>
              <a:rPr lang="en-US" sz="2400" i="1" dirty="0">
                <a:solidFill>
                  <a:schemeClr val="tx2"/>
                </a:solidFill>
              </a:rPr>
              <a:t>sequent form):</a:t>
            </a:r>
          </a:p>
          <a:p>
            <a:endParaRPr lang="en-US" sz="2400" i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have verified this by truth table and can therefore take it as proven as rigorously as possible </a:t>
            </a:r>
            <a:r>
              <a:rPr lang="en-US" sz="2400" b="1" dirty="0">
                <a:solidFill>
                  <a:schemeClr val="tx2"/>
                </a:solidFill>
              </a:rPr>
              <a:t>(semantically correct). </a:t>
            </a:r>
            <a:r>
              <a:rPr lang="en-US" sz="2400" dirty="0">
                <a:solidFill>
                  <a:schemeClr val="tx2"/>
                </a:solidFill>
              </a:rPr>
              <a:t>We denote this 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This is known as </a:t>
            </a:r>
            <a:r>
              <a:rPr lang="en-US" sz="2400" b="1" dirty="0">
                <a:solidFill>
                  <a:schemeClr val="tx2"/>
                </a:solidFill>
              </a:rPr>
              <a:t>modus ponens</a:t>
            </a:r>
            <a:r>
              <a:rPr lang="en-US" sz="2400" dirty="0">
                <a:solidFill>
                  <a:schemeClr val="tx2"/>
                </a:solidFill>
              </a:rPr>
              <a:t> (method of affirming) and is widely used as the basis for automated 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3E14D-FA13-700A-7D85-0FC270CEA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585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4576947" cy="4905623"/>
          </a:xfrm>
        </p:spPr>
        <p:txBody>
          <a:bodyPr>
            <a:normAutofit lnSpcReduction="10000"/>
          </a:bodyPr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 am not wearing a jacket</a:t>
            </a:r>
          </a:p>
          <a:p>
            <a:pPr lvl="1"/>
            <a:r>
              <a:rPr lang="en-US" i="1" dirty="0"/>
              <a:t>Therefore, it is not cold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b="1" dirty="0"/>
              <a:t>Modus Tollens </a:t>
            </a:r>
            <a:r>
              <a:rPr lang="en-US" dirty="0"/>
              <a:t>(</a:t>
            </a:r>
            <a:r>
              <a:rPr lang="en-GB" dirty="0"/>
              <a:t>method of removing by taking away)</a:t>
            </a:r>
            <a:endParaRPr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02545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4576947" cy="4905623"/>
          </a:xfrm>
        </p:spPr>
        <p:txBody>
          <a:bodyPr>
            <a:normAutofit lnSpcReduction="10000"/>
          </a:bodyPr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 am wearing a jacket</a:t>
            </a:r>
          </a:p>
          <a:p>
            <a:pPr lvl="1"/>
            <a:r>
              <a:rPr lang="en-US" i="1" dirty="0"/>
              <a:t>Therefore, it is cold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b="1" dirty="0"/>
              <a:t>Affirming the consequent</a:t>
            </a:r>
            <a:r>
              <a:rPr lang="en-US" dirty="0"/>
              <a:t>, or </a:t>
            </a:r>
            <a:r>
              <a:rPr lang="en-US" i="1" dirty="0"/>
              <a:t>fallacy of the converse</a:t>
            </a:r>
            <a:r>
              <a:rPr lang="en-US" dirty="0"/>
              <a:t> </a:t>
            </a:r>
            <a:endParaRPr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39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5257799" cy="4905623"/>
          </a:xfrm>
        </p:spPr>
        <p:txBody>
          <a:bodyPr>
            <a:normAutofit lnSpcReduction="10000"/>
          </a:bodyPr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It is not cold</a:t>
            </a:r>
          </a:p>
          <a:p>
            <a:pPr lvl="1"/>
            <a:r>
              <a:rPr lang="en-US" i="1" dirty="0"/>
              <a:t>Therefore, I am not wearing a jacket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b="1" dirty="0"/>
              <a:t>Denying the antecedent</a:t>
            </a:r>
            <a:r>
              <a:rPr lang="en-US" dirty="0"/>
              <a:t> or </a:t>
            </a:r>
            <a:r>
              <a:rPr lang="en-US" i="1" dirty="0"/>
              <a:t>fallacy of the inverse</a:t>
            </a:r>
            <a:endParaRPr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5088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Natural Deduction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Truth tables are impractical for larger problems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15 variables – 2</a:t>
            </a:r>
            <a:r>
              <a:rPr lang="en-US" sz="2400" baseline="30000" dirty="0">
                <a:solidFill>
                  <a:schemeClr val="tx1">
                    <a:lumMod val="50000"/>
                  </a:schemeClr>
                </a:solidFill>
              </a:rPr>
              <a:t>15</a:t>
            </a: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 = 32,768 models is feasible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50 variables is challenging!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We could simplify by exploiting constraints and check only models that we cannot immediately rule 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Not always obvious…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Can we instead formalize deductive reasoning?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3616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Natural Deduction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Model checking can be used to determine </a:t>
            </a:r>
            <a:r>
              <a:rPr lang="en-US" sz="2400" i="1" dirty="0">
                <a:solidFill>
                  <a:schemeClr val="tx1">
                    <a:lumMod val="50000"/>
                  </a:schemeClr>
                </a:solidFill>
              </a:rPr>
              <a:t>inference rules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i="1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These can be used to construct an argument to prove or disprove a proposition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Simple example: if P^Q is True, is P=&gt; Q True?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16918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Example of a Formal Proof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52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1CD51-EFA5-D9A1-B4F4-775F3C9CA5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58392"/>
            <a:ext cx="5016500" cy="5080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47065-B2BC-9121-5FFA-96BA59022E4C}"/>
              </a:ext>
            </a:extLst>
          </p:cNvPr>
          <p:cNvGraphicFramePr>
            <a:graphicFrameLocks noGrp="1"/>
          </p:cNvGraphicFramePr>
          <p:nvPr/>
        </p:nvGraphicFramePr>
        <p:xfrm>
          <a:off x="729996" y="2149783"/>
          <a:ext cx="9913620" cy="401770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0308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3791712">
                  <a:extLst>
                    <a:ext uri="{9D8B030D-6E8A-4147-A177-3AD203B41FA5}">
                      <a16:colId xmlns:a16="http://schemas.microsoft.com/office/drawing/2014/main" val="1819981474"/>
                    </a:ext>
                  </a:extLst>
                </a:gridCol>
                <a:gridCol w="1121664">
                  <a:extLst>
                    <a:ext uri="{9D8B030D-6E8A-4147-A177-3AD203B41FA5}">
                      <a16:colId xmlns:a16="http://schemas.microsoft.com/office/drawing/2014/main" val="899057307"/>
                    </a:ext>
                  </a:extLst>
                </a:gridCol>
              </a:tblGrid>
              <a:tr h="579523">
                <a:tc>
                  <a:txBody>
                    <a:bodyPr/>
                    <a:lstStyle/>
                    <a:p>
                      <a:r>
                        <a:rPr lang="en-US" dirty="0"/>
                        <a:t>Step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Inference Rule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Premises used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897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67352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63992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4957412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8174B6E5-4754-1C2F-9CC8-EA4317308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6303861"/>
            <a:ext cx="50165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158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Common Inference Rules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53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47065-B2BC-9121-5FFA-96BA59022E4C}"/>
              </a:ext>
            </a:extLst>
          </p:cNvPr>
          <p:cNvGraphicFramePr>
            <a:graphicFrameLocks noGrp="1"/>
          </p:cNvGraphicFramePr>
          <p:nvPr/>
        </p:nvGraphicFramePr>
        <p:xfrm>
          <a:off x="5996940" y="1893751"/>
          <a:ext cx="5000245" cy="281468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45817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1677214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1677214">
                  <a:extLst>
                    <a:ext uri="{9D8B030D-6E8A-4147-A177-3AD203B41FA5}">
                      <a16:colId xmlns:a16="http://schemas.microsoft.com/office/drawing/2014/main" val="400969257"/>
                    </a:ext>
                  </a:extLst>
                </a:gridCol>
              </a:tblGrid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63992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49574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0045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A more complex Proof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54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47065-B2BC-9121-5FFA-96BA59022E4C}"/>
              </a:ext>
            </a:extLst>
          </p:cNvPr>
          <p:cNvGraphicFramePr>
            <a:graphicFrameLocks noGrp="1"/>
          </p:cNvGraphicFramePr>
          <p:nvPr/>
        </p:nvGraphicFramePr>
        <p:xfrm>
          <a:off x="703580" y="1951057"/>
          <a:ext cx="9913620" cy="416640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0308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3791712">
                  <a:extLst>
                    <a:ext uri="{9D8B030D-6E8A-4147-A177-3AD203B41FA5}">
                      <a16:colId xmlns:a16="http://schemas.microsoft.com/office/drawing/2014/main" val="1819981474"/>
                    </a:ext>
                  </a:extLst>
                </a:gridCol>
                <a:gridCol w="1121664">
                  <a:extLst>
                    <a:ext uri="{9D8B030D-6E8A-4147-A177-3AD203B41FA5}">
                      <a16:colId xmlns:a16="http://schemas.microsoft.com/office/drawing/2014/main" val="899057307"/>
                    </a:ext>
                  </a:extLst>
                </a:gridCol>
              </a:tblGrid>
              <a:tr h="606421">
                <a:tc>
                  <a:txBody>
                    <a:bodyPr/>
                    <a:lstStyle/>
                    <a:p>
                      <a:r>
                        <a:rPr lang="en-US" dirty="0"/>
                        <a:t>Step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Inference Rule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Premises used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89790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67352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501451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639928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4957412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F32BF9C4-3368-A3DA-06E4-6F592A647D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19595"/>
            <a:ext cx="5435600" cy="50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F75F3F-D3A0-11E1-1327-5F92CEC64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77696"/>
            <a:ext cx="55118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69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277BE-0A7C-A4F9-E8FE-CD2FEDEDE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947245" cy="632219"/>
          </a:xfrm>
        </p:spPr>
        <p:txBody>
          <a:bodyPr/>
          <a:lstStyle/>
          <a:p>
            <a:r>
              <a:rPr lang="en-US" dirty="0"/>
              <a:t>Some more Natural Deduction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E296C-566B-CCB2-3DDF-8B255E322C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OR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352DF-788C-AC1E-E5E7-9A897260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55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DE18669-38A6-361A-DB7C-0A2B8B447F90}"/>
              </a:ext>
            </a:extLst>
          </p:cNvPr>
          <p:cNvGraphicFramePr>
            <a:graphicFrameLocks noGrp="1"/>
          </p:cNvGraphicFramePr>
          <p:nvPr/>
        </p:nvGraphicFramePr>
        <p:xfrm>
          <a:off x="729996" y="2149783"/>
          <a:ext cx="9913620" cy="289182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0308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3791712">
                  <a:extLst>
                    <a:ext uri="{9D8B030D-6E8A-4147-A177-3AD203B41FA5}">
                      <a16:colId xmlns:a16="http://schemas.microsoft.com/office/drawing/2014/main" val="1819981474"/>
                    </a:ext>
                  </a:extLst>
                </a:gridCol>
                <a:gridCol w="1121664">
                  <a:extLst>
                    <a:ext uri="{9D8B030D-6E8A-4147-A177-3AD203B41FA5}">
                      <a16:colId xmlns:a16="http://schemas.microsoft.com/office/drawing/2014/main" val="899057307"/>
                    </a:ext>
                  </a:extLst>
                </a:gridCol>
              </a:tblGrid>
              <a:tr h="579523">
                <a:tc>
                  <a:txBody>
                    <a:bodyPr/>
                    <a:lstStyle/>
                    <a:p>
                      <a:r>
                        <a:rPr lang="en-US" dirty="0"/>
                        <a:t>Step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Inference Rule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Premises used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897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67352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55288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2AA55-F891-DDEE-F891-D39FD28CD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330440" cy="632219"/>
          </a:xfrm>
        </p:spPr>
        <p:txBody>
          <a:bodyPr/>
          <a:lstStyle/>
          <a:p>
            <a:r>
              <a:rPr lang="en-US" dirty="0"/>
              <a:t>Proving Invalid Arguments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9B97C-B95E-2FD9-9647-64BB8F9849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If you’re finding it hard to prove an argument, that could be because it is invalid!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You see if this is the case, you might try: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Proving the negation of the conclusion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 a contradiction by proving both the conclusion and its negation, or by deriving the negation of one of the premises</a:t>
            </a:r>
          </a:p>
          <a:p>
            <a:pPr lvl="1"/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94A98-1221-A978-C6C6-9CA7FEC6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2328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F5E00-2BD2-711E-0890-BE0632C2A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319DE-466A-E628-20EB-6D2E06B09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F22D84-CBFB-92A3-3BFD-936EC6255E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DE16FD-DE89-E089-0196-3BCBAE8898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7730776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40959-D2BF-8A22-0D96-2AA63DC04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D8AA719-99CB-BBDE-EDE0-F0EEA4906A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Exercise: Natural Deduction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F988E-C089-617A-0C96-919B467E6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1538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5AFF5-6124-47F0-B889-3EFC792B3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1 Wrap-up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FA938C-8914-3151-DA01-4813EF8E6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Relationship between Logic and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Propositional Logic – sentences that are True of False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1">
                    <a:lumMod val="50000"/>
                  </a:schemeClr>
                </a:solidFill>
              </a:rPr>
              <a:t>Formalisation</a:t>
            </a: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 of Propositional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Knowledge Bases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Natural Deduction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Tomorrow: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Automated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Rule-based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Proof and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BCFC3-8D01-C567-A074-A5207B17F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9702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A2772-B533-5CB5-176C-2D4924C56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059B-9981-A52E-46F7-FF08F8CD1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AAD8A-BB9F-3A44-ADCC-5DAF737BB5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5F133A-38C4-1480-1F1E-B7A54043BF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1: Logic</a:t>
            </a:r>
          </a:p>
        </p:txBody>
      </p:sp>
    </p:spTree>
    <p:extLst>
      <p:ext uri="{BB962C8B-B14F-4D97-AF65-F5344CB8AC3E}">
        <p14:creationId xmlns:p14="http://schemas.microsoft.com/office/powerpoint/2010/main" val="401834926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4DEDC3-89DA-B86F-09AE-5E60DA08E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from Day 1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D1578BC-F26C-4E01-D671-6046D2C602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r>
              <a:rPr lang="en-US" dirty="0"/>
              <a:t>On day 1 we learned:</a:t>
            </a:r>
          </a:p>
          <a:p>
            <a:pPr lvl="1"/>
            <a:r>
              <a:rPr lang="en-US" dirty="0"/>
              <a:t>To represent and reason about knowledge using Logic</a:t>
            </a:r>
          </a:p>
          <a:p>
            <a:pPr lvl="1"/>
            <a:r>
              <a:rPr lang="en-US" dirty="0"/>
              <a:t>The principles of Propositional Logic</a:t>
            </a:r>
          </a:p>
          <a:p>
            <a:pPr lvl="1"/>
            <a:r>
              <a:rPr lang="en-US" dirty="0"/>
              <a:t>Proving argument correctness</a:t>
            </a:r>
          </a:p>
          <a:p>
            <a:pPr lvl="1"/>
            <a:endParaRPr lang="en-US" dirty="0"/>
          </a:p>
          <a:p>
            <a:r>
              <a:rPr lang="en-US" dirty="0"/>
              <a:t>On day 2 we will:</a:t>
            </a:r>
          </a:p>
          <a:p>
            <a:pPr lvl="1"/>
            <a:r>
              <a:rPr lang="en-US" dirty="0"/>
              <a:t>Learn how to use an automated tool for natural deduction</a:t>
            </a:r>
          </a:p>
        </p:txBody>
      </p:sp>
    </p:spTree>
    <p:extLst>
      <p:ext uri="{BB962C8B-B14F-4D97-AF65-F5344CB8AC3E}">
        <p14:creationId xmlns:p14="http://schemas.microsoft.com/office/powerpoint/2010/main" val="6009453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0AC37-8EA3-933C-F98B-5E1661884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37C79-5E14-5739-065E-315BA2A76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531475" cy="632219"/>
          </a:xfrm>
        </p:spPr>
        <p:txBody>
          <a:bodyPr/>
          <a:lstStyle/>
          <a:p>
            <a:r>
              <a:rPr lang="en-US" dirty="0"/>
              <a:t>Automated Reasoning with </a:t>
            </a:r>
            <a:r>
              <a:rPr lang="en-US" dirty="0" err="1"/>
              <a:t>Kanren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D2B65C-2C0E-F2DD-DBE3-95DFC871C2B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r>
              <a:rPr lang="en-US" dirty="0"/>
              <a:t>Open the </a:t>
            </a:r>
            <a:r>
              <a:rPr lang="en-US" dirty="0" err="1"/>
              <a:t>Kanren</a:t>
            </a:r>
            <a:r>
              <a:rPr lang="en-US" dirty="0"/>
              <a:t> Tutorial Notebook and code along…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0170C-7E95-AD7B-788E-34D0BE78E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6349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41AC-A285-0B70-FB17-6DF5993E2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8D5DCB2-5292-7563-030D-8BF046D51C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Exercises: </a:t>
            </a:r>
            <a:r>
              <a:rPr lang="en-US" sz="6000" b="1" dirty="0" err="1"/>
              <a:t>Kanren</a:t>
            </a:r>
            <a:endParaRPr lang="en-US" sz="60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E59551-803C-E736-9C53-11F643C83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45586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478E3-1D32-C4DC-B248-6FEBA14F7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E06A-1066-A5DE-F881-1B1F42A82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6356FD-181A-8FD5-9638-6C2A5B6A61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004E6F-9524-284D-4439-0AD2E14178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26331914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46952-1434-929D-6459-7CDC49E68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496245" cy="632219"/>
          </a:xfrm>
        </p:spPr>
        <p:txBody>
          <a:bodyPr/>
          <a:lstStyle/>
          <a:p>
            <a:r>
              <a:rPr lang="en-US" dirty="0"/>
              <a:t>How Automated Reasoning works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8C2C87-823E-9A87-D370-CB1660610CB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r>
              <a:rPr lang="en-US" dirty="0"/>
              <a:t>Natural deduction has many rules</a:t>
            </a:r>
          </a:p>
          <a:p>
            <a:endParaRPr lang="en-US" dirty="0"/>
          </a:p>
          <a:p>
            <a:r>
              <a:rPr lang="en-US" dirty="0"/>
              <a:t>How we apply them and in what order is not obvious and relies on “human intuition”.</a:t>
            </a:r>
          </a:p>
          <a:p>
            <a:endParaRPr lang="en-US" dirty="0"/>
          </a:p>
          <a:p>
            <a:r>
              <a:rPr lang="en-US" dirty="0"/>
              <a:t>Computers don’t have human intuition…..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2F9B6-0C0C-B4E6-AD5E-DC59D8FC4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8216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0695A-72B0-044E-4260-920974841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494917" cy="632219"/>
          </a:xfrm>
        </p:spPr>
        <p:txBody>
          <a:bodyPr/>
          <a:lstStyle/>
          <a:p>
            <a:r>
              <a:rPr lang="en-US" dirty="0"/>
              <a:t>Logical Equivalencies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icture Placeholder 2">
                <a:extLst>
                  <a:ext uri="{FF2B5EF4-FFF2-40B4-BE49-F238E27FC236}">
                    <a16:creationId xmlns:a16="http://schemas.microsoft.com/office/drawing/2014/main" id="{85853A79-C0DE-F75B-95ED-8A7EC4A238D1}"/>
                  </a:ext>
                </a:extLst>
              </p:cNvPr>
              <p:cNvSpPr>
                <a:spLocks noGrp="1"/>
              </p:cNvSpPr>
              <p:nvPr>
                <p:ph type="pic" sz="quarter" idx="13"/>
              </p:nvPr>
            </p:nvSpPr>
            <p:spPr/>
            <p:txBody>
              <a:bodyPr/>
              <a:lstStyle/>
              <a:p>
                <a:r>
                  <a:rPr lang="en-US" dirty="0"/>
                  <a:t>Automated inference would be easier if we only had one rule to apply</a:t>
                </a:r>
              </a:p>
              <a:p>
                <a:r>
                  <a:rPr lang="en-US" dirty="0"/>
                  <a:t>Consider the expressions</a:t>
                </a:r>
              </a:p>
              <a:p>
                <a:pPr marL="457189" lvl="1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457189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;   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   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GB" b="0" dirty="0"/>
              </a:p>
              <a:p>
                <a:pPr marL="457189" lvl="1" indent="0">
                  <a:buNone/>
                </a:pPr>
                <a:endParaRPr lang="en-US" dirty="0"/>
              </a:p>
              <a:p>
                <a:r>
                  <a:rPr lang="en-US" dirty="0"/>
                  <a:t>Can we represent a knowledge base using only one these?</a:t>
                </a:r>
              </a:p>
            </p:txBody>
          </p:sp>
        </mc:Choice>
        <mc:Fallback xmlns="">
          <p:sp>
            <p:nvSpPr>
              <p:cNvPr id="3" name="Picture Placeholder 2">
                <a:extLst>
                  <a:ext uri="{FF2B5EF4-FFF2-40B4-BE49-F238E27FC236}">
                    <a16:creationId xmlns:a16="http://schemas.microsoft.com/office/drawing/2014/main" id="{85853A79-C0DE-F75B-95ED-8A7EC4A238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pic" sz="quarter" idx="13"/>
              </p:nvPr>
            </p:nvSpPr>
            <p:spPr>
              <a:blipFill>
                <a:blip r:embed="rId2"/>
                <a:stretch>
                  <a:fillRect l="-1084" t="-2089" r="-6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A24F99-E960-C486-CA7D-9EA166C2F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2526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42D0A-6782-8EA6-89F3-27362AAB3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288547" cy="632219"/>
          </a:xfrm>
        </p:spPr>
        <p:txBody>
          <a:bodyPr/>
          <a:lstStyle/>
          <a:p>
            <a:r>
              <a:rPr lang="en-US" dirty="0"/>
              <a:t>Rule Based Systems 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58DD7F-0ADF-563C-C74F-6E2D093370C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r>
              <a:rPr lang="en-US" dirty="0"/>
              <a:t>If we can represent a Knowledge base purely in terms of material implication and negation, we only need one inference rule: </a:t>
            </a:r>
            <a:r>
              <a:rPr lang="en-US" i="1" dirty="0"/>
              <a:t>modus ponens</a:t>
            </a:r>
          </a:p>
          <a:p>
            <a:endParaRPr lang="en-US" i="1" dirty="0"/>
          </a:p>
          <a:p>
            <a:r>
              <a:rPr lang="en-US" dirty="0"/>
              <a:t>Will allow us to prove logical statements by either:</a:t>
            </a:r>
          </a:p>
          <a:p>
            <a:endParaRPr lang="en-US" dirty="0"/>
          </a:p>
          <a:p>
            <a:r>
              <a:rPr lang="en-US" dirty="0"/>
              <a:t>Systematically deriving new facts until we find the one we want</a:t>
            </a:r>
          </a:p>
          <a:p>
            <a:r>
              <a:rPr lang="en-US" dirty="0"/>
              <a:t>Systematically exploring the known facts to establish compatibility.</a:t>
            </a:r>
          </a:p>
          <a:p>
            <a:endParaRPr lang="en-US" i="1" dirty="0"/>
          </a:p>
          <a:p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9786E-E48A-924B-0232-33ED56F03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245749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3AD85-A0AD-770E-FE29-86452AFF8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Chaining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E2A4F0-001F-C50D-6A36-CEDCF77C31B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1119706"/>
            <a:ext cx="5469609" cy="485785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x eats grass and goes "moo" then x is a cow.</a:t>
            </a:r>
          </a:p>
          <a:p>
            <a:r>
              <a:rPr lang="en-US" dirty="0"/>
              <a:t>If x eats hay and goes "neigh" then x is a horse.</a:t>
            </a:r>
          </a:p>
          <a:p>
            <a:r>
              <a:rPr lang="en-US" dirty="0"/>
              <a:t>If x eats grass and goes "baa" then x is a sheep.</a:t>
            </a:r>
          </a:p>
          <a:p>
            <a:r>
              <a:rPr lang="en-US" dirty="0"/>
              <a:t>If x is a cow then x is brown.</a:t>
            </a:r>
          </a:p>
          <a:p>
            <a:r>
              <a:rPr lang="en-US" dirty="0"/>
              <a:t>If x is a horse then x is black.</a:t>
            </a:r>
          </a:p>
          <a:p>
            <a:r>
              <a:rPr lang="en-US" dirty="0"/>
              <a:t>If x is a sheep then x is white.</a:t>
            </a:r>
          </a:p>
          <a:p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/>
              <a:t>Given x=“Jeff”, we know that </a:t>
            </a:r>
            <a:r>
              <a:rPr lang="en-US" i="1" dirty="0"/>
              <a:t>Jeff eats hay </a:t>
            </a:r>
            <a:r>
              <a:rPr lang="en-US" dirty="0"/>
              <a:t>and </a:t>
            </a:r>
            <a:r>
              <a:rPr lang="en-US" i="1" dirty="0"/>
              <a:t>Jeff goes "neigh".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/>
              <a:t>What </a:t>
            </a:r>
            <a:r>
              <a:rPr lang="en-US" dirty="0" err="1"/>
              <a:t>colour</a:t>
            </a:r>
            <a:r>
              <a:rPr lang="en-US" dirty="0"/>
              <a:t> is Jeff? (our </a:t>
            </a:r>
            <a:r>
              <a:rPr lang="en-US" b="1" dirty="0"/>
              <a:t>goal</a:t>
            </a:r>
            <a:r>
              <a:rPr lang="en-US" dirty="0"/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i="1" dirty="0"/>
          </a:p>
          <a:p>
            <a:pPr algn="l">
              <a:buFont typeface="Arial" panose="020B0604020202020204" pitchFamily="34" charset="0"/>
              <a:buChar char="•"/>
            </a:pPr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EAAE0-4B01-D995-945F-0DEB12AB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17947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39671-FEB2-7F0E-02B4-41170F42E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DA411-1CF6-2413-0465-F29C6D167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5686586" cy="632219"/>
          </a:xfrm>
        </p:spPr>
        <p:txBody>
          <a:bodyPr/>
          <a:lstStyle/>
          <a:p>
            <a:r>
              <a:rPr lang="en-US" dirty="0"/>
              <a:t>Backward Chaining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6B0406-132C-9FC6-4848-AA7DC852E62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1119706"/>
            <a:ext cx="5877731" cy="485785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If x eats grass and goes "moo" then x is a cow.</a:t>
            </a:r>
          </a:p>
          <a:p>
            <a:r>
              <a:rPr lang="en-US" dirty="0"/>
              <a:t>If x eats hay and goes "neigh" then x is a horse.</a:t>
            </a:r>
          </a:p>
          <a:p>
            <a:r>
              <a:rPr lang="en-US" dirty="0"/>
              <a:t>If x eats grass and goes "baa" then x is a sheep.</a:t>
            </a:r>
          </a:p>
          <a:p>
            <a:r>
              <a:rPr lang="en-US" dirty="0"/>
              <a:t>If x is a cow then x is brown.</a:t>
            </a:r>
          </a:p>
          <a:p>
            <a:r>
              <a:rPr lang="en-US" dirty="0"/>
              <a:t>If x is a horse then x is black.</a:t>
            </a:r>
          </a:p>
          <a:p>
            <a:r>
              <a:rPr lang="en-US" dirty="0"/>
              <a:t>If x is a sheep then x is white.</a:t>
            </a:r>
          </a:p>
          <a:p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/>
              <a:t>Given x=“Jess”, we know that </a:t>
            </a:r>
            <a:r>
              <a:rPr lang="en-US" i="1" dirty="0"/>
              <a:t>Jeff eats grass </a:t>
            </a:r>
            <a:r>
              <a:rPr lang="en-US" dirty="0"/>
              <a:t>and </a:t>
            </a:r>
            <a:r>
              <a:rPr lang="en-US" i="1" dirty="0"/>
              <a:t>Jeff goes ”baa".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/>
              <a:t>We </a:t>
            </a:r>
            <a:r>
              <a:rPr lang="en-US" dirty="0" err="1"/>
              <a:t>hypothesise</a:t>
            </a:r>
            <a:r>
              <a:rPr lang="en-US" dirty="0"/>
              <a:t> “</a:t>
            </a:r>
            <a:r>
              <a:rPr lang="en-US" i="1" dirty="0"/>
              <a:t>Jess is White</a:t>
            </a:r>
            <a:r>
              <a:rPr lang="en-US" dirty="0"/>
              <a:t>” (the goal). Can we prove it?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i="1" dirty="0"/>
          </a:p>
          <a:p>
            <a:pPr algn="l">
              <a:buFont typeface="Arial" panose="020B0604020202020204" pitchFamily="34" charset="0"/>
              <a:buChar char="•"/>
            </a:pPr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EDB50-F334-800B-18E8-6817279D9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21125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AF040-76DD-B46A-E26E-F6D3A4225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61984-6C2E-F013-7C6E-D66E0E08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9752308" cy="632219"/>
          </a:xfrm>
        </p:spPr>
        <p:txBody>
          <a:bodyPr/>
          <a:lstStyle/>
          <a:p>
            <a:r>
              <a:rPr lang="en-US" dirty="0"/>
              <a:t>Forward vs Backward Chaining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179333-B7B4-D9BB-7C78-CEE86141ED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1119706"/>
            <a:ext cx="5877731" cy="485785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If x eats grass and goes "moo" then x is a cow.</a:t>
            </a:r>
          </a:p>
          <a:p>
            <a:r>
              <a:rPr lang="en-US" dirty="0"/>
              <a:t>If x eats hay and goes "neigh" then x is a horse.</a:t>
            </a:r>
          </a:p>
          <a:p>
            <a:r>
              <a:rPr lang="en-US" dirty="0"/>
              <a:t>If x eats grass and goes "baa" then x is a sheep.</a:t>
            </a:r>
          </a:p>
          <a:p>
            <a:r>
              <a:rPr lang="en-US" dirty="0"/>
              <a:t>If x is a cow then x is brown.</a:t>
            </a:r>
          </a:p>
          <a:p>
            <a:r>
              <a:rPr lang="en-US" dirty="0"/>
              <a:t>If x is a horse then x is black.</a:t>
            </a:r>
          </a:p>
          <a:p>
            <a:r>
              <a:rPr lang="en-US" dirty="0"/>
              <a:t>If x is a sheep then x is white.</a:t>
            </a:r>
          </a:p>
          <a:p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/>
              <a:t>Given x=“Jess”, we know that </a:t>
            </a:r>
            <a:r>
              <a:rPr lang="en-US" i="1" dirty="0"/>
              <a:t>Jeff eats grass </a:t>
            </a:r>
            <a:r>
              <a:rPr lang="en-US" dirty="0"/>
              <a:t>and </a:t>
            </a:r>
            <a:r>
              <a:rPr lang="en-US" i="1" dirty="0"/>
              <a:t>Jeff goes ”baa".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i="1" dirty="0"/>
              <a:t>“What </a:t>
            </a:r>
            <a:r>
              <a:rPr lang="en-US" i="1" dirty="0" err="1"/>
              <a:t>colour</a:t>
            </a:r>
            <a:r>
              <a:rPr lang="en-US" i="1" dirty="0"/>
              <a:t> is Jess?”</a:t>
            </a:r>
            <a:r>
              <a:rPr lang="en-US" dirty="0"/>
              <a:t> vs “Prove </a:t>
            </a:r>
            <a:r>
              <a:rPr lang="en-US" i="1" dirty="0"/>
              <a:t>Jess is White</a:t>
            </a:r>
            <a:r>
              <a:rPr lang="en-US" dirty="0"/>
              <a:t>”.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i="1" dirty="0"/>
          </a:p>
          <a:p>
            <a:pPr algn="l">
              <a:buFont typeface="Arial" panose="020B0604020202020204" pitchFamily="34" charset="0"/>
              <a:buChar char="•"/>
            </a:pPr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B21D1-CFD8-D760-2369-818E91C50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809860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168F4-C5EF-8DB7-C23A-8C6133C97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2156CF9-1202-E541-7442-E43F8A08D3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Exercise: Automating Natural Deduction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E3386-14A6-7474-F0E9-91344B702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781332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C1012-3D99-82E8-E27C-264626BB5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112FD-388C-7B65-FD62-60EE514F0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D3FF1C-A8C8-B776-8B5A-869A0871FA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E15629-A621-C4E4-21EC-1A554CBE6E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144727471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D252A-2F48-8C2C-C0C6-7321B18DD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and Proof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CDC04-E83D-8606-43DC-2B8B5648B1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100863"/>
            <a:ext cx="4400228" cy="4912611"/>
          </a:xfrm>
        </p:spPr>
        <p:txBody>
          <a:bodyPr>
            <a:normAutofit/>
          </a:bodyPr>
          <a:lstStyle/>
          <a:p>
            <a:endParaRPr lang="en-US" sz="16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1. If x goes "moo" then x is a cow.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2. If x goes "baa" then x is a sheep.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3. If x goes "neigh" then x is a horse.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4. If x is a cow then x eats grass.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5. If x is a sheep then x eats grass.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6. If x is a horse then x eats oats.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7. If x is a cow then x has four legs.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8. If x is a sheep then x has four legs.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9. If x is a horse then x has four legs.</a:t>
            </a:r>
          </a:p>
          <a:p>
            <a:pPr marL="0" indent="0">
              <a:buNone/>
            </a:pPr>
            <a:endParaRPr lang="en-US" sz="16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Jenny has four legs.</a:t>
            </a:r>
          </a:p>
          <a:p>
            <a:pPr marL="0" indent="0">
              <a:buNone/>
            </a:pPr>
            <a:endParaRPr lang="en-US" sz="16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600" i="1" dirty="0">
                <a:solidFill>
                  <a:schemeClr val="tx2"/>
                </a:solidFill>
              </a:rPr>
              <a:t>Where do we start??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B3E43-4C2D-FEF8-245E-73BB2AF97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619C3F-DE31-DCA2-69D9-EE6F43F82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331" y="895878"/>
            <a:ext cx="5646290" cy="491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264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05BE9-382E-C731-9CD5-2B3FB3823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73D80-161A-6915-D98B-D857AC5E4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and Proof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F48E2C-D253-92BC-10EA-594CF4E13A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100863"/>
            <a:ext cx="4400228" cy="4912611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chemeClr val="tx2"/>
                </a:solidFill>
              </a:rPr>
              <a:t>Inference in rule based systems is equivalent to </a:t>
            </a:r>
            <a:r>
              <a:rPr lang="en-US" sz="1600" b="1" dirty="0">
                <a:solidFill>
                  <a:schemeClr val="tx2"/>
                </a:solidFill>
              </a:rPr>
              <a:t>search </a:t>
            </a:r>
            <a:r>
              <a:rPr lang="en-US" sz="1600" dirty="0">
                <a:solidFill>
                  <a:schemeClr val="tx2"/>
                </a:solidFill>
              </a:rPr>
              <a:t>on a directed graph</a:t>
            </a:r>
          </a:p>
          <a:p>
            <a:r>
              <a:rPr lang="en-US" sz="1600" dirty="0">
                <a:solidFill>
                  <a:schemeClr val="tx2"/>
                </a:solidFill>
              </a:rPr>
              <a:t>A proof corresponds to finding a path in the graph between the premises and the goal.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tx2"/>
                </a:solidFill>
              </a:rPr>
              <a:t>In forward chaining, we start with the premises</a:t>
            </a:r>
          </a:p>
          <a:p>
            <a:pPr marL="0" indent="0">
              <a:buNone/>
            </a:pPr>
            <a:r>
              <a:rPr lang="en-US" sz="1600" i="1" dirty="0">
                <a:solidFill>
                  <a:schemeClr val="tx2"/>
                </a:solidFill>
              </a:rPr>
              <a:t>“Jack goes ‘Moo’. What does Jack eat?”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tx2"/>
                </a:solidFill>
              </a:rPr>
              <a:t>In backward chaining, we start with the goal</a:t>
            </a:r>
          </a:p>
          <a:p>
            <a:pPr marL="0" indent="0">
              <a:buNone/>
            </a:pPr>
            <a:r>
              <a:rPr lang="en-US" sz="1600" i="1" dirty="0">
                <a:solidFill>
                  <a:schemeClr val="tx2"/>
                </a:solidFill>
              </a:rPr>
              <a:t>“Jack goes ‘Moo’. Does Jack eat Oats?”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tx2"/>
                </a:solidFill>
              </a:rPr>
              <a:t>Both cases require us to traverse the graph. How to do this systematically?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600" i="1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600" i="1" dirty="0">
              <a:solidFill>
                <a:schemeClr val="tx2"/>
              </a:solidFill>
            </a:endParaRPr>
          </a:p>
          <a:p>
            <a:pPr marL="742944" indent="-457200"/>
            <a:endParaRPr lang="en-US" sz="1600" dirty="0">
              <a:solidFill>
                <a:schemeClr val="tx2"/>
              </a:solidFill>
            </a:endParaRPr>
          </a:p>
          <a:p>
            <a:pPr marL="914389" lvl="1" indent="-457200"/>
            <a:endParaRPr lang="en-US" sz="26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D1E2E-8AE5-A406-3A84-16D25A387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74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66D0F-0E96-6C7A-853C-CC935C440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331" y="895878"/>
            <a:ext cx="5646290" cy="491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61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CE97B-E535-D213-C26D-7E0416CB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1102439" cy="632219"/>
          </a:xfrm>
        </p:spPr>
        <p:txBody>
          <a:bodyPr/>
          <a:lstStyle/>
          <a:p>
            <a:r>
              <a:rPr lang="en-US" dirty="0"/>
              <a:t>Breadth-First Search (Forward Chaining)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1C71D-B90F-C87B-1AB2-CE5BFE361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7B14E7-83A8-299E-B7ED-4DE584BCA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196" y="1293702"/>
            <a:ext cx="5646290" cy="491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85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D4D8-5634-6522-BFAE-813220B4F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9FF2B-31B4-23B9-2A9C-6FFA47189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1500263" cy="632219"/>
          </a:xfrm>
        </p:spPr>
        <p:txBody>
          <a:bodyPr/>
          <a:lstStyle/>
          <a:p>
            <a:r>
              <a:rPr lang="en-US" dirty="0"/>
              <a:t>Breadth-First Search (Backward Chaining)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0CDEC-6B1F-1E60-30D3-F69404B11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6EB622-C2CB-8C2A-0BEF-B9C18CCB1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196" y="1293702"/>
            <a:ext cx="5646290" cy="491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856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F5E06-75C1-9AC8-1943-1531FF97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F6916-C080-03A1-E8E7-5C6BB3D42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10857854" cy="632219"/>
          </a:xfrm>
        </p:spPr>
        <p:txBody>
          <a:bodyPr/>
          <a:lstStyle/>
          <a:p>
            <a:r>
              <a:rPr lang="en-US" dirty="0"/>
              <a:t>Depth-First Search (Forward Chaining)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5BAF1-C1D3-C29C-C9F1-297A10A42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A392E8-FAC1-8068-D19C-61CA54C2E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196" y="1293702"/>
            <a:ext cx="5646290" cy="491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851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DB016-A11C-ABCA-0E92-CB61A51E3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DD76-5F16-73FC-311E-CBD14581B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1312471" cy="632219"/>
          </a:xfrm>
        </p:spPr>
        <p:txBody>
          <a:bodyPr/>
          <a:lstStyle/>
          <a:p>
            <a:r>
              <a:rPr lang="en-US" dirty="0"/>
              <a:t>Depth-First Search (Backward Chaining)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E4E11-6539-2756-412A-C6D4DD45E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F62408-B439-63F8-72B0-3EBB38A5E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196" y="1293702"/>
            <a:ext cx="5646290" cy="491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10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D569C-7482-874A-E669-773FB73A6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811359" cy="632219"/>
          </a:xfrm>
        </p:spPr>
        <p:txBody>
          <a:bodyPr/>
          <a:lstStyle/>
          <a:p>
            <a:r>
              <a:rPr lang="en-US" dirty="0"/>
              <a:t>Breadth vs Depth-First Search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B6F72-77E4-EBA7-FECE-4BFC9B4C8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712F8E-FBF7-6A3C-8A52-8A701758E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743" y="1276597"/>
            <a:ext cx="11590475" cy="4310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6946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EFE28-A46F-086B-8C33-47A70D7FC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23898E0-4A5E-6323-06B7-F52A39F46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Exercise: Proof and Search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9A1633-BF73-E66E-B238-D1A029D2B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39374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8FE8A-915A-3E51-42B8-77D69C86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A98F8-B0F8-A713-499E-C9BAE6C7F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2 Wrap-up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5D2F98-9F4B-10ED-CC9E-A35B89AC7A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Logic programming with </a:t>
            </a:r>
            <a:r>
              <a:rPr lang="en-US" sz="2400" dirty="0" err="1">
                <a:solidFill>
                  <a:schemeClr val="tx1">
                    <a:lumMod val="50000"/>
                  </a:schemeClr>
                </a:solidFill>
              </a:rPr>
              <a:t>Kanren</a:t>
            </a: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Forward and Backward Chaining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Proof and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Tomorrow: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First Order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LLMs and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 Assessment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B3F90-0DC7-7DAB-FE48-4406DB567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73458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E6151-F86A-8A4E-99C3-665877355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972FB-9AF1-F540-A069-5B31D78CB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1C70EF-FA7C-484D-A5D6-A4D325679B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28526821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81419"/>
            <a:ext cx="8175171" cy="632219"/>
          </a:xfrm>
        </p:spPr>
        <p:txBody>
          <a:bodyPr/>
          <a:lstStyle/>
          <a:p>
            <a:r>
              <a:rPr lang="en-US" dirty="0"/>
              <a:t>A Problem with Propositions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	All computer scientists are logical</a:t>
            </a:r>
          </a:p>
          <a:p>
            <a:r>
              <a:rPr lang="en-GB" sz="2400" dirty="0">
                <a:solidFill>
                  <a:schemeClr val="tx2"/>
                </a:solidFill>
              </a:rPr>
              <a:t>	Alan is a computer scientist</a:t>
            </a:r>
          </a:p>
          <a:p>
            <a:r>
              <a:rPr lang="en-GB" sz="2400" dirty="0">
                <a:solidFill>
                  <a:schemeClr val="tx2"/>
                </a:solidFill>
              </a:rPr>
              <a:t>	Therefore Alan is logical</a:t>
            </a: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can represent this easily this in propositional logic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about another computer scientist, Grace?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Our argument above is about Alan.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construct another argument for Grace.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about Physicists,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Philophers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Classicists?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seems……wasteful</a:t>
            </a:r>
          </a:p>
          <a:p>
            <a:pPr lvl="1"/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0A4955-C5B1-2691-5C79-E75FF9A05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200" y="2990800"/>
            <a:ext cx="3149600" cy="673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Order Logic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Even worse….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GB" sz="2400" dirty="0">
                <a:solidFill>
                  <a:schemeClr val="tx2"/>
                </a:solidFill>
              </a:rPr>
              <a:t>	All computer scientists are logical</a:t>
            </a:r>
          </a:p>
          <a:p>
            <a:r>
              <a:rPr lang="en-GB" sz="2400" dirty="0">
                <a:solidFill>
                  <a:schemeClr val="tx2"/>
                </a:solidFill>
              </a:rPr>
              <a:t>	Some computer scientists are Irish</a:t>
            </a:r>
          </a:p>
          <a:p>
            <a:r>
              <a:rPr lang="en-GB" sz="2400" dirty="0">
                <a:solidFill>
                  <a:schemeClr val="tx2"/>
                </a:solidFill>
              </a:rPr>
              <a:t>	Therefore, some computer scientists are logical and Irish.</a:t>
            </a:r>
            <a:endParaRPr lang="en-US" sz="2400" dirty="0">
              <a:solidFill>
                <a:schemeClr val="tx2"/>
              </a:solidFill>
            </a:endParaRP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Do our tools allow us to prove that this is a valid argument?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These are all propositions, but they use quantifiers (all, some)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No natural mechanisms for working with these in propositional logic.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Careful definitions of the sentences has got us out of trouble so far, but won’t work here.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need some new mechanisms.</a:t>
            </a:r>
          </a:p>
          <a:p>
            <a:endParaRPr sz="2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3986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Order Logic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Propositions have to be </a:t>
            </a:r>
            <a:r>
              <a:rPr lang="en-US" sz="2800" i="1" dirty="0">
                <a:solidFill>
                  <a:schemeClr val="tx2"/>
                </a:solidFill>
              </a:rPr>
              <a:t>unconditionally</a:t>
            </a:r>
            <a:r>
              <a:rPr lang="en-US" sz="2800" dirty="0">
                <a:solidFill>
                  <a:schemeClr val="tx2"/>
                </a:solidFill>
              </a:rPr>
              <a:t> True or False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Ahmed had the Stew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Niamh had the Dhal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First order logic introduces mechanisms that allow us to include and reason about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Variables</a:t>
            </a: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(Ahmed, Niamh, </a:t>
            </a:r>
            <a:r>
              <a:rPr lang="en-US" sz="2800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Lorapix</a:t>
            </a: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800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Acidulitis</a:t>
            </a: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endParaRPr lang="en-US" sz="2800" i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Quantifiers </a:t>
            </a: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(all, some </a:t>
            </a:r>
            <a:r>
              <a:rPr lang="en-US" sz="2800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Predicates </a:t>
            </a: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(Ordered dinner, is a symptom of)</a:t>
            </a:r>
          </a:p>
        </p:txBody>
      </p:sp>
    </p:spTree>
    <p:extLst>
      <p:ext uri="{BB962C8B-B14F-4D97-AF65-F5344CB8AC3E}">
        <p14:creationId xmlns:p14="http://schemas.microsoft.com/office/powerpoint/2010/main" val="49282982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63DE9-FC44-2575-E556-2200345B3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763189" cy="632219"/>
          </a:xfrm>
        </p:spPr>
        <p:txBody>
          <a:bodyPr/>
          <a:lstStyle/>
          <a:p>
            <a:r>
              <a:rPr lang="en-US" dirty="0"/>
              <a:t>Variables and Predicates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AE94B32C-3DA8-5689-C060-98581CE178D3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>
                <a:no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First order logic allows us to formulate generic statement.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Instead of saying</a:t>
                </a:r>
              </a:p>
              <a:p>
                <a:pPr marL="742939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Alan is a Computer Scientist</a:t>
                </a:r>
              </a:p>
              <a:p>
                <a:pPr marL="742939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Grace is a Computer Scientist</a:t>
                </a:r>
              </a:p>
              <a:p>
                <a:pPr marL="742939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Boris is not a Computer Scientist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We define a predicate </a:t>
                </a:r>
                <a:r>
                  <a:rPr lang="en-US" sz="2400" i="1" dirty="0">
                    <a:solidFill>
                      <a:schemeClr val="tx2"/>
                    </a:solidFill>
                  </a:rPr>
                  <a:t>C(x)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en-US" i="1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a Computer Scientist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</a:t>
                </a:r>
                <a:r>
                  <a:rPr lang="en-US" i="1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C(x)</a:t>
                </a: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when x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en-US" dirty="0" err="1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Alan,Grace</a:t>
                </a: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lang="en-US" i="1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C(x)</a:t>
                </a: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when x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{Boris}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i="1" dirty="0" err="1">
                    <a:solidFill>
                      <a:schemeClr val="tx2"/>
                    </a:solidFill>
                  </a:rPr>
                  <a:t>x,y,z</a:t>
                </a:r>
                <a:r>
                  <a:rPr lang="en-US" sz="2400" dirty="0">
                    <a:solidFill>
                      <a:schemeClr val="tx2"/>
                    </a:solidFill>
                  </a:rPr>
                  <a:t> are variables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Each variable is defined on a </a:t>
                </a:r>
                <a:r>
                  <a:rPr lang="en-US" sz="2400" i="1" dirty="0">
                    <a:solidFill>
                      <a:schemeClr val="tx2"/>
                    </a:solidFill>
                  </a:rPr>
                  <a:t>domain.</a:t>
                </a:r>
                <a:endParaRPr lang="en-US" sz="24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AE94B32C-3DA8-5689-C060-98581CE17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844" t="-1809" b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1C02F-4E5A-373A-82A2-17DBD0107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1590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63DE9-FC44-2575-E556-2200345B3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763189" cy="632219"/>
          </a:xfrm>
        </p:spPr>
        <p:txBody>
          <a:bodyPr/>
          <a:lstStyle/>
          <a:p>
            <a:r>
              <a:rPr lang="en-US" dirty="0"/>
              <a:t>Quantifiers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AE94B32C-3DA8-5689-C060-98581CE178D3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>
                <a:no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solidFill>
                      <a:schemeClr val="tx2"/>
                    </a:solidFill>
                  </a:rPr>
                  <a:t>We may wish to make statements about part of all of a variable domain</a:t>
                </a:r>
              </a:p>
              <a:p>
                <a:pPr marL="742939" lvl="1" indent="-28575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Some people are computer scientists</a:t>
                </a:r>
              </a:p>
              <a:p>
                <a:pPr marL="742939" lvl="1" indent="-28575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All Computer Scientists are logical</a:t>
                </a:r>
              </a:p>
              <a:p>
                <a:pPr marL="742939" lvl="1" indent="-285750">
                  <a:buFont typeface="Arial" panose="020B0604020202020204" pitchFamily="34" charset="0"/>
                  <a:buChar char="•"/>
                </a:pPr>
                <a:endParaRPr lang="en-US" sz="2800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solidFill>
                      <a:schemeClr val="tx2"/>
                    </a:solidFill>
                  </a:rPr>
                  <a:t>Two common quantifiers:</a:t>
                </a:r>
              </a:p>
              <a:p>
                <a:pPr marL="742939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∀</m:t>
                    </m:r>
                  </m:oMath>
                </a14:m>
                <a:r>
                  <a:rPr lang="en-US" sz="28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for all</a:t>
                </a:r>
              </a:p>
              <a:p>
                <a:pPr marL="742939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∃</m:t>
                    </m:r>
                  </m:oMath>
                </a14:m>
                <a:r>
                  <a:rPr lang="en-US" sz="28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exists</a:t>
                </a:r>
              </a:p>
              <a:p>
                <a:pPr lvl="1"/>
                <a:endParaRPr lang="en-US" sz="2800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089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∀</m:t>
                    </m:r>
                  </m:oMath>
                </a14:m>
                <a:r>
                  <a:rPr lang="en-US" sz="28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x [C(x)]		x={</a:t>
                </a:r>
                <a:r>
                  <a:rPr lang="en-US" sz="2800" dirty="0" err="1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Alan,Grace</a:t>
                </a:r>
                <a:r>
                  <a:rPr lang="en-US" sz="28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</a:p>
              <a:p>
                <a:pPr marL="800089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∃</m:t>
                    </m:r>
                  </m:oMath>
                </a14:m>
                <a:r>
                  <a:rPr lang="en-US" sz="28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x [C(x)]		x={</a:t>
                </a:r>
                <a:r>
                  <a:rPr lang="en-US" sz="2800" dirty="0" err="1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Alan,Grace</a:t>
                </a:r>
                <a:r>
                  <a:rPr lang="en-US" sz="2800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Boris}</a:t>
                </a:r>
                <a:endParaRPr lang="en-US" sz="2800" dirty="0">
                  <a:solidFill>
                    <a:schemeClr val="tx2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8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AE94B32C-3DA8-5689-C060-98581CE17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1086" t="-2067" r="-724" b="-4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1C02F-4E5A-373A-82A2-17DBD0107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573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63DE9-FC44-2575-E556-2200345B3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763189" cy="632219"/>
          </a:xfrm>
        </p:spPr>
        <p:txBody>
          <a:bodyPr/>
          <a:lstStyle/>
          <a:p>
            <a:r>
              <a:rPr lang="en-US" dirty="0"/>
              <a:t>Logical Connectives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AE94B32C-3DA8-5689-C060-98581CE178D3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>
                <a:no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We can use connectives with both predicates and quantifiers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sz="2400" i="1" dirty="0">
                  <a:solidFill>
                    <a:schemeClr val="tx2"/>
                  </a:solidFill>
                </a:endParaRP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Predicate </a:t>
                </a:r>
                <a:r>
                  <a:rPr lang="en-US" i="1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(is a computer scientist)</a:t>
                </a:r>
                <a:endParaRPr lang="en-US" i="1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Predicate </a:t>
                </a:r>
                <a:r>
                  <a:rPr lang="en-US" i="1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 </a:t>
                </a: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(is logical)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Variable </a:t>
                </a:r>
                <a:r>
                  <a:rPr lang="en-US" i="1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x </a:t>
                </a: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(all people)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sz="2400" dirty="0">
                  <a:solidFill>
                    <a:schemeClr val="tx2"/>
                  </a:solidFill>
                </a:endParaRP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n-US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⟹</m:t>
                          </m:r>
                          <m:r>
                            <a:rPr lang="en-US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3200" b="0" dirty="0">
                  <a:solidFill>
                    <a:schemeClr val="tx2"/>
                  </a:solidFill>
                  <a:ea typeface="Cambria Math" panose="02040503050406030204" pitchFamily="18" charset="0"/>
                </a:endParaRPr>
              </a:p>
              <a:p>
                <a:endParaRPr lang="en-US" sz="2400" dirty="0">
                  <a:solidFill>
                    <a:schemeClr val="tx2"/>
                  </a:solidFill>
                </a:endParaRP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n-US" sz="3200" i="1" dirty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[</m:t>
                      </m:r>
                      <m:r>
                        <a:rPr lang="en-US" sz="3200" i="1" dirty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3200" i="1" dirty="0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dirty="0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200" i="1" dirty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lang="en-US" sz="3200" i="1" dirty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sz="3200" i="1" dirty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200" i="1" dirty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sz="3200" dirty="0">
                  <a:solidFill>
                    <a:schemeClr val="tx2"/>
                  </a:solidFill>
                </a:endParaRPr>
              </a:p>
              <a:p>
                <a:endParaRPr lang="en-US" sz="2400" i="1" dirty="0">
                  <a:solidFill>
                    <a:schemeClr val="tx2"/>
                  </a:solidFill>
                  <a:ea typeface="Cambria Math" panose="02040503050406030204" pitchFamily="18" charset="0"/>
                </a:endParaRP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a:rPr lang="en-US" sz="320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lang="en-US" sz="3200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[</m:t>
                      </m:r>
                      <m:r>
                        <a:rPr lang="en-US" sz="3200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sz="3200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200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)⟹¬</m:t>
                      </m:r>
                      <m:r>
                        <a:rPr lang="en-US" sz="3200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200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32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AE94B32C-3DA8-5689-C060-98581CE17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844" t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1C02F-4E5A-373A-82A2-17DBD0107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652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52B2ED-7D52-F1C3-6166-6059749EC5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br>
              <a:rPr lang="en-GB" sz="4800" dirty="0">
                <a:solidFill>
                  <a:schemeClr val="tx2"/>
                </a:solidFill>
              </a:rPr>
            </a:br>
            <a:r>
              <a:rPr lang="en-US" sz="4800" dirty="0"/>
              <a:t>Exercise: First Order Logic</a:t>
            </a:r>
            <a:endParaRPr lang="en-US" sz="48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C8BB2-CE84-16B2-99F6-937C7CF0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785043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E6151-F86A-8A4E-99C3-665877355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972FB-9AF1-F540-A069-5B31D78CB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1C70EF-FA7C-484D-A5D6-A4D325679B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231574350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8645-816C-AB70-76C2-D2B39912D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6467" cy="632219"/>
          </a:xfrm>
        </p:spPr>
        <p:txBody>
          <a:bodyPr/>
          <a:lstStyle/>
          <a:p>
            <a:r>
              <a:rPr lang="en-US" dirty="0"/>
              <a:t>In the era of LLMs do we need all this?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2F795-63EF-FC6B-1045-276859923E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5777088" cy="490562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Large language models like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, Llama, Bard, Claude can understand and generate astonishingly coherent natural language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Bold claims have been made about the capabilities of these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Do these claims stack up?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LLMs </a:t>
            </a:r>
            <a:r>
              <a:rPr lang="en-US" sz="2400" b="1" dirty="0">
                <a:solidFill>
                  <a:schemeClr val="tx2"/>
                </a:solidFill>
              </a:rPr>
              <a:t>reason</a:t>
            </a:r>
            <a:r>
              <a:rPr lang="en-US" sz="2400" dirty="0">
                <a:solidFill>
                  <a:schemeClr val="tx2"/>
                </a:solidFill>
              </a:rPr>
              <a:t>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6BE54-0A36-25E8-AE09-E4039947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F84691-49EC-C229-5D92-A735D30CB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654" y="1107853"/>
            <a:ext cx="5190146" cy="128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821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C152-B853-13B7-9354-BFB344E07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6668911" cy="632219"/>
          </a:xfrm>
        </p:spPr>
        <p:txBody>
          <a:bodyPr/>
          <a:lstStyle/>
          <a:p>
            <a:r>
              <a:rPr lang="en-US" dirty="0"/>
              <a:t>How do LLMs work?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34A79-4556-F693-872C-E6A4770CD5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1037710" cy="4905623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[You will learn more about this next term in “Natural Language Processing”]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LLMs are generative language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Trained to generate sequences of words conditioned on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prompt supplied by us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they have already generated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Essentially they predict the next word in a sequence by sampling from the distribution of possible words.</a:t>
            </a:r>
            <a:endParaRPr lang="en-US" sz="2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Why do they work so well?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Very large neural network models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Self-supervised generative pre-training – learning to predict the training data itself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Trained on vast amounts of data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22336-5709-78FC-7F65-ECAF52443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91763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C152-B853-13B7-9354-BFB344E07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6668911" cy="632219"/>
          </a:xfrm>
        </p:spPr>
        <p:txBody>
          <a:bodyPr/>
          <a:lstStyle/>
          <a:p>
            <a:r>
              <a:rPr lang="en-US" dirty="0"/>
              <a:t>How do LLMs work?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34A79-4556-F693-872C-E6A4770CD5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1037710" cy="4905623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Why do some people think this might lead to AGI?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Massively improved ability to generate text over previous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Far better at the “Turing Test” than previous efforts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Some evidence that its output is a synthesis of its training data not a regurgitation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Wishful thinking!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22336-5709-78FC-7F65-ECAF52443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28108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C152-B853-13B7-9354-BFB344E07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6668911" cy="632219"/>
          </a:xfrm>
        </p:spPr>
        <p:txBody>
          <a:bodyPr/>
          <a:lstStyle/>
          <a:p>
            <a:r>
              <a:rPr lang="en-US" dirty="0"/>
              <a:t>How do LLMs work?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34A79-4556-F693-872C-E6A4770CD5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1037710" cy="4905623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Why do some people think this might lead to AGI?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Massively improved ability to generate text over previous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Far better at the “Turing Test” than previous efforts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Some evidence that its output is a synthesis of its training data not a regurgitation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Wishful thinking!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22336-5709-78FC-7F65-ECAF52443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20416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DBDA0-D13D-951C-6F1E-B5F8E931F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we trust it?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0DEFD-7ADA-6C43-00BF-CB1B1B5D7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85B6A9-ABDB-BA29-FB6A-0D00D74E6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8" y="1273417"/>
            <a:ext cx="7772400" cy="5203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01986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87D0E-84BB-63A4-9059-19ED1E83E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6695661" cy="632219"/>
          </a:xfrm>
        </p:spPr>
        <p:txBody>
          <a:bodyPr/>
          <a:lstStyle/>
          <a:p>
            <a:r>
              <a:rPr lang="en-US" dirty="0"/>
              <a:t>Leading questions?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87211-EF71-BD56-0BA9-3E8F606F9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078FC2-BF95-4E13-E026-2140F68A2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76226"/>
            <a:ext cx="7772400" cy="3105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52510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50A95-0E22-8F52-BA75-5309A9AB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Bold Claims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694897-A71D-5FD1-86D7-AEF5057D5E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2838608"/>
            <a:ext cx="10517372" cy="317486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Let’s find out if this is true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9BBD2-2843-8DDB-A286-F2DC17FBC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A063A-840F-425E-4E07-FEF8FC783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800" y="1275696"/>
            <a:ext cx="7772400" cy="1300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068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8645-816C-AB70-76C2-D2B39912D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6467" cy="632219"/>
          </a:xfrm>
        </p:spPr>
        <p:txBody>
          <a:bodyPr/>
          <a:lstStyle/>
          <a:p>
            <a:r>
              <a:rPr lang="en-US" dirty="0"/>
              <a:t>An old friend…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2F795-63EF-FC6B-1045-276859923E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Can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 do modus ponens?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All men are mortal</a:t>
            </a:r>
          </a:p>
          <a:p>
            <a:r>
              <a:rPr lang="en-US" sz="2400" dirty="0">
                <a:solidFill>
                  <a:schemeClr val="tx2"/>
                </a:solidFill>
              </a:rPr>
              <a:t>Socrates is a man…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6BE54-0A36-25E8-AE09-E4039947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65DF1A-633D-6833-E59C-43F82ECE6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26" y="3374397"/>
            <a:ext cx="10669949" cy="15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6861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C0062-F4E0-04D5-4E3E-AE4CBB2EE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323667" cy="632219"/>
          </a:xfrm>
        </p:spPr>
        <p:txBody>
          <a:bodyPr/>
          <a:lstStyle/>
          <a:p>
            <a:r>
              <a:rPr lang="en-US" dirty="0"/>
              <a:t>More complex arguments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FAFDA-0E29-3B9A-54BC-277663F1EE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z="2800" dirty="0">
                <a:solidFill>
                  <a:schemeClr val="tx2"/>
                </a:solidFill>
              </a:rPr>
              <a:t>If I take a hat and gloves when it’s cold and I’m not wearing a hat or gloves, is it cold?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83D52-9271-B3BF-8E71-082C47802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28E72E-BB80-8FBA-656E-A9C914D9F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278" y="2741942"/>
            <a:ext cx="10213443" cy="254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9318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8645-816C-AB70-76C2-D2B39912D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6467" cy="632219"/>
          </a:xfrm>
        </p:spPr>
        <p:txBody>
          <a:bodyPr/>
          <a:lstStyle/>
          <a:p>
            <a:r>
              <a:rPr lang="en-US" dirty="0"/>
              <a:t>An old friend…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2F795-63EF-FC6B-1045-276859923E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Can we tempt it into a logical fallacy?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All men are mortal</a:t>
            </a:r>
          </a:p>
          <a:p>
            <a:r>
              <a:rPr lang="en-US" sz="2400" dirty="0">
                <a:solidFill>
                  <a:schemeClr val="tx2"/>
                </a:solidFill>
              </a:rPr>
              <a:t>Socrates is not a man…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6BE54-0A36-25E8-AE09-E4039947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1AE5CC-6BE0-86EF-87E9-8D27FBF07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27" y="3148617"/>
            <a:ext cx="10510805" cy="1491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0472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90419-346F-F2CA-1B64-F8778F7E1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A76D2-1E96-87D6-AE7C-67EEA75A7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Go to the exercise “Are you Logical”.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Copy and paste the first five questions (one at a time) into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How does it do? Is it consistent? What sort of mistakes does it make?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7641D-21EC-6E05-878F-FC00302D8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9642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90419-346F-F2CA-1B64-F8778F7E1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A76D2-1E96-87D6-AE7C-67EEA75A7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Go to the exercise “Elementary my dear Watson” on Monday 13 November.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Copy and paste the four parts of question 3 (one at a time) into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. You’ll need to include the question each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How does it do? Is it consistent? What sort of mistakes does it make?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7641D-21EC-6E05-878F-FC00302D8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54511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C0062-F4E0-04D5-4E3E-AE4CBB2EE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323667" cy="632219"/>
          </a:xfrm>
        </p:spPr>
        <p:txBody>
          <a:bodyPr/>
          <a:lstStyle/>
          <a:p>
            <a:r>
              <a:rPr lang="en-US" dirty="0"/>
              <a:t>A simple riddle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FAFDA-0E29-3B9A-54BC-277663F1EE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Bird and insects have wings</a:t>
            </a:r>
          </a:p>
          <a:p>
            <a:r>
              <a:rPr lang="en-US" dirty="0">
                <a:solidFill>
                  <a:schemeClr val="tx2"/>
                </a:solidFill>
              </a:rPr>
              <a:t>Bird have two legs, bees have six</a:t>
            </a:r>
          </a:p>
          <a:p>
            <a:r>
              <a:rPr lang="en-US" dirty="0">
                <a:solidFill>
                  <a:schemeClr val="tx2"/>
                </a:solidFill>
              </a:rPr>
              <a:t>Bees are insects</a:t>
            </a:r>
          </a:p>
          <a:p>
            <a:r>
              <a:rPr lang="en-US" dirty="0">
                <a:solidFill>
                  <a:schemeClr val="tx2"/>
                </a:solidFill>
              </a:rPr>
              <a:t>Dogs, cows, horses, sheep and cats have four legs and no wings</a:t>
            </a:r>
          </a:p>
          <a:p>
            <a:r>
              <a:rPr lang="en-US" dirty="0">
                <a:solidFill>
                  <a:schemeClr val="tx2"/>
                </a:solidFill>
              </a:rPr>
              <a:t>Snakes have neither legs nor wings</a:t>
            </a:r>
          </a:p>
          <a:p>
            <a:r>
              <a:rPr lang="en-US" dirty="0">
                <a:solidFill>
                  <a:schemeClr val="tx2"/>
                </a:solidFill>
              </a:rPr>
              <a:t>I have four legs and wings. What am I?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83D52-9271-B3BF-8E71-082C47802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2832F3-C9CA-63F2-9643-C17D9B912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941" y="3429000"/>
            <a:ext cx="9790118" cy="2486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9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CD52C-64A1-CE4D-7FFD-1CC019713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104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A8F43A0-35A2-9FC4-B71F-CDC52164FCED}"/>
              </a:ext>
            </a:extLst>
          </p:cNvPr>
          <p:cNvGrpSpPr/>
          <p:nvPr/>
        </p:nvGrpSpPr>
        <p:grpSpPr>
          <a:xfrm>
            <a:off x="2707342" y="37676"/>
            <a:ext cx="7633446" cy="6782648"/>
            <a:chOff x="2209800" y="1013638"/>
            <a:chExt cx="7772400" cy="708994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236CDA1-8C83-8DDD-6612-2611BFD4C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013638"/>
              <a:ext cx="7772400" cy="318233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2D79F3A-8D7C-4DAC-3DD3-A9EA5C9656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09800" y="4136336"/>
              <a:ext cx="7772400" cy="2986103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3DBA963-0818-1335-BBCE-6D8C91163E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09800" y="7122439"/>
              <a:ext cx="7772400" cy="9811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6192508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E29C-14F2-760E-7CCD-B7F58059A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D71D8-397D-62B0-AFC0-5CA52C3A16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you get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 to solve the three diners puzzle (Are you Logical, Q6)?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(You may need to edit the text to make it fit).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15-20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What sort of mistakes does it make (if it makes mistakes)?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1DA57-8B2B-10B7-97D8-6B0277A1B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0935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E29C-14F2-760E-7CCD-B7F58059A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D71D8-397D-62B0-AFC0-5CA52C3A16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you get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 to solve Einstein’s Riddle (slides, Tuesday 13 November)?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(You may need to edit the text to make it fit).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15-20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What sort of mistakes does it make (if it makes mistakes)?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1DA57-8B2B-10B7-97D8-6B0277A1B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26628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A0B4F89-18CD-7069-641D-77958FD1A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Assignment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FA0B0A3-86DD-BD83-1F6B-151C81ADE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Now open in Canvas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Let’s take a look!</a:t>
            </a:r>
          </a:p>
        </p:txBody>
      </p:sp>
    </p:spTree>
    <p:extLst>
      <p:ext uri="{BB962C8B-B14F-4D97-AF65-F5344CB8AC3E}">
        <p14:creationId xmlns:p14="http://schemas.microsoft.com/office/powerpoint/2010/main" val="63266712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B7AB8-E683-1A91-3095-0FCB37C23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53FA1-95C3-CED8-C00C-F4F2CC9A4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3 Wrap-up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1E227D-042F-0F2B-9185-E64FC85A7F9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First Order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LLMs and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 Assessment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Next Week: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Knowledge Graphs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9CDF9-9980-B9C7-AE2F-75FA454FA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958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ueens University 1">
      <a:dk1>
        <a:srgbClr val="494949"/>
      </a:dk1>
      <a:lt1>
        <a:srgbClr val="9B9B9B"/>
      </a:lt1>
      <a:dk2>
        <a:srgbClr val="2F2F2F"/>
      </a:dk2>
      <a:lt2>
        <a:srgbClr val="FFFFFF"/>
      </a:lt2>
      <a:accent1>
        <a:srgbClr val="00AFAB"/>
      </a:accent1>
      <a:accent2>
        <a:srgbClr val="93D60A"/>
      </a:accent2>
      <a:accent3>
        <a:srgbClr val="D6000D"/>
      </a:accent3>
      <a:accent4>
        <a:srgbClr val="F18903"/>
      </a:accent4>
      <a:accent5>
        <a:srgbClr val="AC004D"/>
      </a:accent5>
      <a:accent6>
        <a:srgbClr val="672E6C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Master_PPT" id="{520EB0CF-6B0E-8A45-BC11-DA0C3C33E0F5}" vid="{AE149573-493F-1C48-9EE6-1B6DC626C8B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aab77ea-b4a5-49e3-a1e8-d6dd23a1f286}" enabled="0" method="" siteId="{eaab77ea-b4a5-49e3-a1e8-d6dd23a1f28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1846</TotalTime>
  <Words>5164</Words>
  <Application>Microsoft Macintosh PowerPoint</Application>
  <PresentationFormat>Widescreen</PresentationFormat>
  <Paragraphs>1139</Paragraphs>
  <Slides>108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6" baseType="lpstr">
      <vt:lpstr>Arial</vt:lpstr>
      <vt:lpstr>Calibri</vt:lpstr>
      <vt:lpstr>Calibri Light</vt:lpstr>
      <vt:lpstr>Cambria Math</vt:lpstr>
      <vt:lpstr>Courier New</vt:lpstr>
      <vt:lpstr>Helvetica</vt:lpstr>
      <vt:lpstr>Menlo</vt:lpstr>
      <vt:lpstr>Office Theme</vt:lpstr>
      <vt:lpstr>Are you here?</vt:lpstr>
      <vt:lpstr>MSc Artificial Intelligence</vt:lpstr>
      <vt:lpstr>Logical Reasoning</vt:lpstr>
      <vt:lpstr>Graphical Representations of Knowledge</vt:lpstr>
      <vt:lpstr>Causal Reasoning</vt:lpstr>
      <vt:lpstr>Learning Outcomes</vt:lpstr>
      <vt:lpstr>Outline Syllabus</vt:lpstr>
      <vt:lpstr>How the Course will be Taught</vt:lpstr>
      <vt:lpstr>Assessment</vt:lpstr>
      <vt:lpstr>Can you solve them?</vt:lpstr>
      <vt:lpstr>PowerPoint Presentation</vt:lpstr>
      <vt:lpstr>What reasoning abilities did you use?</vt:lpstr>
      <vt:lpstr>Introduction</vt:lpstr>
      <vt:lpstr>Symbol Manipulation and Intelligence</vt:lpstr>
      <vt:lpstr>Logic and Intelligence</vt:lpstr>
      <vt:lpstr>MSc Artificial Intelligence</vt:lpstr>
      <vt:lpstr>Propositional Logic</vt:lpstr>
      <vt:lpstr>Propositional Logic</vt:lpstr>
      <vt:lpstr>Propositions</vt:lpstr>
      <vt:lpstr>Connectives</vt:lpstr>
      <vt:lpstr>Correctness</vt:lpstr>
      <vt:lpstr>Validity and Soundness</vt:lpstr>
      <vt:lpstr>PowerPoint Presentation</vt:lpstr>
      <vt:lpstr>MSc Artificial Intelligence</vt:lpstr>
      <vt:lpstr>Formal Propositional Logic</vt:lpstr>
      <vt:lpstr>Making Logical Arguments Formal</vt:lpstr>
      <vt:lpstr>Logical Connectives</vt:lpstr>
      <vt:lpstr>Truth Tables</vt:lpstr>
      <vt:lpstr>Negation (Not)</vt:lpstr>
      <vt:lpstr>Conjunction (And)</vt:lpstr>
      <vt:lpstr>Disjunction (Or)</vt:lpstr>
      <vt:lpstr>Material Implication</vt:lpstr>
      <vt:lpstr>Biconditional</vt:lpstr>
      <vt:lpstr>Back to our example</vt:lpstr>
      <vt:lpstr>PowerPoint Presentation</vt:lpstr>
      <vt:lpstr>PowerPoint Presentation</vt:lpstr>
      <vt:lpstr>MSc Artificial Intelligence</vt:lpstr>
      <vt:lpstr>Knowledge Bases</vt:lpstr>
      <vt:lpstr>How can agents achieve their goals?</vt:lpstr>
      <vt:lpstr>Knowledge Bases</vt:lpstr>
      <vt:lpstr>A Familiar Riddle</vt:lpstr>
      <vt:lpstr>MSc Artificial Intelligence</vt:lpstr>
      <vt:lpstr>Proofs in Logic</vt:lpstr>
      <vt:lpstr>Truth Tables</vt:lpstr>
      <vt:lpstr>Model Checking</vt:lpstr>
      <vt:lpstr>Model Checking</vt:lpstr>
      <vt:lpstr>Truth Tables</vt:lpstr>
      <vt:lpstr>Truth Tables</vt:lpstr>
      <vt:lpstr>Truth Tables</vt:lpstr>
      <vt:lpstr>Natural Deduction</vt:lpstr>
      <vt:lpstr>Natural Deduction</vt:lpstr>
      <vt:lpstr>Example of a Formal Proof</vt:lpstr>
      <vt:lpstr>Common Inference Rules</vt:lpstr>
      <vt:lpstr>A more complex Proof</vt:lpstr>
      <vt:lpstr>Some more Natural Deduction</vt:lpstr>
      <vt:lpstr>Proving Invalid Arguments</vt:lpstr>
      <vt:lpstr>MSc Artificial Intelligence</vt:lpstr>
      <vt:lpstr>PowerPoint Presentation</vt:lpstr>
      <vt:lpstr>Day 1 Wrap-up</vt:lpstr>
      <vt:lpstr>MSc Artificial Intelligence</vt:lpstr>
      <vt:lpstr>Recap from Day 1</vt:lpstr>
      <vt:lpstr>Automated Reasoning with Kanren</vt:lpstr>
      <vt:lpstr>PowerPoint Presentation</vt:lpstr>
      <vt:lpstr>MSc Artificial Intelligence</vt:lpstr>
      <vt:lpstr>How Automated Reasoning works</vt:lpstr>
      <vt:lpstr>Logical Equivalencies</vt:lpstr>
      <vt:lpstr>Rule Based Systems </vt:lpstr>
      <vt:lpstr>Forward Chaining</vt:lpstr>
      <vt:lpstr>Backward Chaining</vt:lpstr>
      <vt:lpstr>Forward vs Backward Chaining</vt:lpstr>
      <vt:lpstr>PowerPoint Presentation</vt:lpstr>
      <vt:lpstr>MSc Artificial Intelligence</vt:lpstr>
      <vt:lpstr>Search and Proof</vt:lpstr>
      <vt:lpstr>Search and Proof</vt:lpstr>
      <vt:lpstr>Breadth-First Search (Forward Chaining)</vt:lpstr>
      <vt:lpstr>Breadth-First Search (Backward Chaining)</vt:lpstr>
      <vt:lpstr>Depth-First Search (Forward Chaining)</vt:lpstr>
      <vt:lpstr>Depth-First Search (Backward Chaining)</vt:lpstr>
      <vt:lpstr>Breadth vs Depth-First Search</vt:lpstr>
      <vt:lpstr>PowerPoint Presentation</vt:lpstr>
      <vt:lpstr>Day 2 Wrap-up</vt:lpstr>
      <vt:lpstr>MSc Artificial Intelligence</vt:lpstr>
      <vt:lpstr>A Problem with Propositions</vt:lpstr>
      <vt:lpstr>First Order Logic</vt:lpstr>
      <vt:lpstr>First Order Logic</vt:lpstr>
      <vt:lpstr>Variables and Predicates</vt:lpstr>
      <vt:lpstr>Quantifiers</vt:lpstr>
      <vt:lpstr>Logical Connectives</vt:lpstr>
      <vt:lpstr>PowerPoint Presentation</vt:lpstr>
      <vt:lpstr>MSc Artificial Intelligence</vt:lpstr>
      <vt:lpstr>In the era of LLMs do we need all this?</vt:lpstr>
      <vt:lpstr>How do LLMs work?</vt:lpstr>
      <vt:lpstr>How do LLMs work?</vt:lpstr>
      <vt:lpstr>How do LLMs work?</vt:lpstr>
      <vt:lpstr>Can we trust it?</vt:lpstr>
      <vt:lpstr>Leading questions?</vt:lpstr>
      <vt:lpstr>Bold Claims</vt:lpstr>
      <vt:lpstr>An old friend…</vt:lpstr>
      <vt:lpstr>More complex arguments</vt:lpstr>
      <vt:lpstr>An old friend…</vt:lpstr>
      <vt:lpstr>Exercise</vt:lpstr>
      <vt:lpstr>Exercise</vt:lpstr>
      <vt:lpstr>A simple riddle</vt:lpstr>
      <vt:lpstr>PowerPoint Presentation</vt:lpstr>
      <vt:lpstr>Challenge</vt:lpstr>
      <vt:lpstr>Challenge</vt:lpstr>
      <vt:lpstr>The Assignment</vt:lpstr>
      <vt:lpstr>Day 3 Wrap-up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Iain Styles</dc:creator>
  <cp:lastModifiedBy>Iain Styles</cp:lastModifiedBy>
  <cp:revision>1</cp:revision>
  <dcterms:created xsi:type="dcterms:W3CDTF">2024-11-07T11:06:47Z</dcterms:created>
  <dcterms:modified xsi:type="dcterms:W3CDTF">2024-11-11T05:32:07Z</dcterms:modified>
</cp:coreProperties>
</file>