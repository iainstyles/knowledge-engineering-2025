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09"/>
  </p:notesMasterIdLst>
  <p:handoutMasterIdLst>
    <p:handoutMasterId r:id="rId110"/>
  </p:handoutMasterIdLst>
  <p:sldIdLst>
    <p:sldId id="291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7" r:id="rId10"/>
    <p:sldId id="293" r:id="rId11"/>
    <p:sldId id="326" r:id="rId12"/>
    <p:sldId id="257" r:id="rId13"/>
    <p:sldId id="258" r:id="rId14"/>
    <p:sldId id="259" r:id="rId15"/>
    <p:sldId id="394" r:id="rId16"/>
    <p:sldId id="292" r:id="rId17"/>
    <p:sldId id="294" r:id="rId18"/>
    <p:sldId id="295" r:id="rId19"/>
    <p:sldId id="296" r:id="rId20"/>
    <p:sldId id="297" r:id="rId21"/>
    <p:sldId id="298" r:id="rId22"/>
    <p:sldId id="299" r:id="rId23"/>
    <p:sldId id="393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9" r:id="rId33"/>
    <p:sldId id="310" r:id="rId34"/>
    <p:sldId id="343" r:id="rId35"/>
    <p:sldId id="312" r:id="rId36"/>
    <p:sldId id="392" r:id="rId37"/>
    <p:sldId id="344" r:id="rId38"/>
    <p:sldId id="311" r:id="rId39"/>
    <p:sldId id="314" r:id="rId40"/>
    <p:sldId id="315" r:id="rId41"/>
    <p:sldId id="391" r:id="rId42"/>
    <p:sldId id="345" r:id="rId43"/>
    <p:sldId id="318" r:id="rId44"/>
    <p:sldId id="346" r:id="rId45"/>
    <p:sldId id="347" r:id="rId46"/>
    <p:sldId id="348" r:id="rId47"/>
    <p:sldId id="349" r:id="rId48"/>
    <p:sldId id="350" r:id="rId49"/>
    <p:sldId id="352" r:id="rId50"/>
    <p:sldId id="353" r:id="rId51"/>
    <p:sldId id="328" r:id="rId52"/>
    <p:sldId id="329" r:id="rId53"/>
    <p:sldId id="330" r:id="rId54"/>
    <p:sldId id="354" r:id="rId55"/>
    <p:sldId id="331" r:id="rId56"/>
    <p:sldId id="390" r:id="rId57"/>
    <p:sldId id="355" r:id="rId58"/>
    <p:sldId id="317" r:id="rId59"/>
    <p:sldId id="356" r:id="rId60"/>
    <p:sldId id="357" r:id="rId61"/>
    <p:sldId id="359" r:id="rId62"/>
    <p:sldId id="404" r:id="rId63"/>
    <p:sldId id="389" r:id="rId64"/>
    <p:sldId id="360" r:id="rId65"/>
    <p:sldId id="361" r:id="rId66"/>
    <p:sldId id="362" r:id="rId67"/>
    <p:sldId id="382" r:id="rId68"/>
    <p:sldId id="384" r:id="rId69"/>
    <p:sldId id="385" r:id="rId70"/>
    <p:sldId id="386" r:id="rId71"/>
    <p:sldId id="388" r:id="rId72"/>
    <p:sldId id="387" r:id="rId73"/>
    <p:sldId id="395" r:id="rId74"/>
    <p:sldId id="396" r:id="rId75"/>
    <p:sldId id="398" r:id="rId76"/>
    <p:sldId id="397" r:id="rId77"/>
    <p:sldId id="399" r:id="rId78"/>
    <p:sldId id="400" r:id="rId79"/>
    <p:sldId id="401" r:id="rId80"/>
    <p:sldId id="403" r:id="rId81"/>
    <p:sldId id="374" r:id="rId82"/>
    <p:sldId id="375" r:id="rId83"/>
    <p:sldId id="376" r:id="rId84"/>
    <p:sldId id="377" r:id="rId85"/>
    <p:sldId id="335" r:id="rId86"/>
    <p:sldId id="378" r:id="rId87"/>
    <p:sldId id="379" r:id="rId88"/>
    <p:sldId id="380" r:id="rId89"/>
    <p:sldId id="373" r:id="rId90"/>
    <p:sldId id="363" r:id="rId91"/>
    <p:sldId id="364" r:id="rId92"/>
    <p:sldId id="365" r:id="rId93"/>
    <p:sldId id="366" r:id="rId94"/>
    <p:sldId id="342" r:id="rId95"/>
    <p:sldId id="367" r:id="rId96"/>
    <p:sldId id="368" r:id="rId97"/>
    <p:sldId id="333" r:id="rId98"/>
    <p:sldId id="337" r:id="rId99"/>
    <p:sldId id="336" r:id="rId100"/>
    <p:sldId id="369" r:id="rId101"/>
    <p:sldId id="370" r:id="rId102"/>
    <p:sldId id="339" r:id="rId103"/>
    <p:sldId id="340" r:id="rId104"/>
    <p:sldId id="334" r:id="rId105"/>
    <p:sldId id="372" r:id="rId106"/>
    <p:sldId id="381" r:id="rId107"/>
    <p:sldId id="405" r:id="rId10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 November, 0900-1000" id="{C81B977D-B904-D64D-9B82-73A8047B6F1A}">
          <p14:sldIdLst>
            <p14:sldId id="291"/>
            <p14:sldId id="319"/>
            <p14:sldId id="320"/>
            <p14:sldId id="321"/>
            <p14:sldId id="322"/>
            <p14:sldId id="323"/>
            <p14:sldId id="324"/>
            <p14:sldId id="325"/>
            <p14:sldId id="327"/>
            <p14:sldId id="293"/>
            <p14:sldId id="326"/>
            <p14:sldId id="257"/>
            <p14:sldId id="258"/>
            <p14:sldId id="259"/>
          </p14:sldIdLst>
        </p14:section>
        <p14:section name="11 November 1000-1100" id="{9C17B0EA-3447-1242-AC57-26E3B2C42C96}">
          <p14:sldIdLst>
            <p14:sldId id="394"/>
            <p14:sldId id="292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11 November 1100-1200" id="{8DEF7AC0-C90C-0246-A52B-9F9E8824C91C}">
          <p14:sldIdLst>
            <p14:sldId id="393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9"/>
            <p14:sldId id="310"/>
            <p14:sldId id="343"/>
            <p14:sldId id="312"/>
          </p14:sldIdLst>
        </p14:section>
        <p14:section name="11 November 1200-1300" id="{10930351-D98B-FF48-9484-3C7A752B18C0}">
          <p14:sldIdLst>
            <p14:sldId id="392"/>
            <p14:sldId id="344"/>
            <p14:sldId id="311"/>
            <p14:sldId id="314"/>
            <p14:sldId id="315"/>
          </p14:sldIdLst>
        </p14:section>
        <p14:section name="11 November 1400-1530" id="{704F7E2B-A96D-A742-B34A-3C124AC72AA6}">
          <p14:sldIdLst>
            <p14:sldId id="391"/>
            <p14:sldId id="345"/>
            <p14:sldId id="318"/>
            <p14:sldId id="346"/>
            <p14:sldId id="347"/>
            <p14:sldId id="348"/>
            <p14:sldId id="349"/>
            <p14:sldId id="350"/>
            <p14:sldId id="352"/>
            <p14:sldId id="353"/>
            <p14:sldId id="328"/>
            <p14:sldId id="329"/>
            <p14:sldId id="330"/>
            <p14:sldId id="354"/>
            <p14:sldId id="331"/>
          </p14:sldIdLst>
        </p14:section>
        <p14:section name="11 November 1530-1700" id="{EBB3BC09-0348-F04B-B299-3CE4A149178F}">
          <p14:sldIdLst>
            <p14:sldId id="390"/>
            <p14:sldId id="355"/>
            <p14:sldId id="317"/>
          </p14:sldIdLst>
        </p14:section>
        <p14:section name="12 November 0900-1100" id="{A588EEF6-A57A-1947-A367-23B57769E0F0}">
          <p14:sldIdLst>
            <p14:sldId id="356"/>
            <p14:sldId id="357"/>
            <p14:sldId id="359"/>
          </p14:sldIdLst>
        </p14:section>
        <p14:section name="12 November 1100-1300" id="{2BFA2418-6788-8443-AA7D-3AB3A0348135}">
          <p14:sldIdLst>
            <p14:sldId id="404"/>
          </p14:sldIdLst>
        </p14:section>
        <p14:section name="12 November 1400-1530" id="{338C17B0-5EA5-4442-AB36-45481D50CE49}">
          <p14:sldIdLst>
            <p14:sldId id="389"/>
            <p14:sldId id="360"/>
            <p14:sldId id="361"/>
            <p14:sldId id="362"/>
            <p14:sldId id="382"/>
            <p14:sldId id="384"/>
            <p14:sldId id="385"/>
            <p14:sldId id="386"/>
          </p14:sldIdLst>
        </p14:section>
        <p14:section name="12 November 1530-1700" id="{827F9A21-AD93-8148-8788-EAD7CD9D439F}">
          <p14:sldIdLst>
            <p14:sldId id="388"/>
            <p14:sldId id="387"/>
            <p14:sldId id="395"/>
            <p14:sldId id="396"/>
            <p14:sldId id="398"/>
            <p14:sldId id="397"/>
            <p14:sldId id="399"/>
            <p14:sldId id="400"/>
            <p14:sldId id="401"/>
            <p14:sldId id="403"/>
          </p14:sldIdLst>
        </p14:section>
        <p14:section name="13 November 0900-1000" id="{6F75790E-BE5B-8E4D-9FBD-54E6F0680EA2}">
          <p14:sldIdLst>
            <p14:sldId id="374"/>
            <p14:sldId id="375"/>
            <p14:sldId id="376"/>
            <p14:sldId id="377"/>
            <p14:sldId id="335"/>
            <p14:sldId id="378"/>
            <p14:sldId id="379"/>
            <p14:sldId id="380"/>
            <p14:sldId id="373"/>
          </p14:sldIdLst>
        </p14:section>
        <p14:section name="13 November 1000-1200" id="{EFD512CA-6CC4-AA47-BBAA-171A2903AAB0}">
          <p14:sldIdLst>
            <p14:sldId id="363"/>
            <p14:sldId id="364"/>
            <p14:sldId id="365"/>
            <p14:sldId id="366"/>
            <p14:sldId id="342"/>
            <p14:sldId id="367"/>
            <p14:sldId id="368"/>
            <p14:sldId id="333"/>
            <p14:sldId id="337"/>
            <p14:sldId id="336"/>
            <p14:sldId id="369"/>
            <p14:sldId id="370"/>
            <p14:sldId id="339"/>
            <p14:sldId id="340"/>
            <p14:sldId id="334"/>
            <p14:sldId id="372"/>
          </p14:sldIdLst>
        </p14:section>
        <p14:section name="13 November 1200-1300" id="{AB94CBC9-5727-3D4D-B94B-4CA47FFF2759}">
          <p14:sldIdLst>
            <p14:sldId id="381"/>
            <p14:sldId id="4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6" autoAdjust="0"/>
    <p:restoredTop sz="94830" autoAdjust="0"/>
  </p:normalViewPr>
  <p:slideViewPr>
    <p:cSldViewPr snapToGrid="0" snapToObjects="1" showGuides="1">
      <p:cViewPr varScale="1">
        <p:scale>
          <a:sx n="121" d="100"/>
          <a:sy n="121" d="100"/>
        </p:scale>
        <p:origin x="464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handoutMaster" Target="handoutMasters/handoutMaster1.xml"/><Relationship Id="rId115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delSld modSld modSection">
      <pc:chgData name="Iain Styles" userId="befbdaae-53f8-4d26-a8dc-3366b09f768a" providerId="ADAL" clId="{5E0D2633-D8F6-500D-A7FC-C9CB56BC4BFB}" dt="2025-09-14T09:15:26.507" v="10" actId="20577"/>
      <pc:docMkLst>
        <pc:docMk/>
      </pc:docMkLst>
      <pc:sldChg chg="modSp mod">
        <pc:chgData name="Iain Styles" userId="befbdaae-53f8-4d26-a8dc-3366b09f768a" providerId="ADAL" clId="{5E0D2633-D8F6-500D-A7FC-C9CB56BC4BFB}" dt="2025-09-14T09:15:26.507" v="10" actId="20577"/>
        <pc:sldMkLst>
          <pc:docMk/>
          <pc:sldMk cId="4150415409" sldId="291"/>
        </pc:sldMkLst>
        <pc:spChg chg="mod">
          <ac:chgData name="Iain Styles" userId="befbdaae-53f8-4d26-a8dc-3366b09f768a" providerId="ADAL" clId="{5E0D2633-D8F6-500D-A7FC-C9CB56BC4BFB}" dt="2025-09-14T09:15:26.507" v="10" actId="20577"/>
          <ac:spMkLst>
            <pc:docMk/>
            <pc:sldMk cId="4150415409" sldId="291"/>
            <ac:spMk id="4" creationId="{9B1C70EF-FA7C-484D-A5D6-A4D325679B17}"/>
          </ac:spMkLst>
        </pc:spChg>
      </pc:sldChg>
      <pc:sldChg chg="del">
        <pc:chgData name="Iain Styles" userId="befbdaae-53f8-4d26-a8dc-3366b09f768a" providerId="ADAL" clId="{5E0D2633-D8F6-500D-A7FC-C9CB56BC4BFB}" dt="2025-09-14T09:15:16.951" v="0" actId="2696"/>
        <pc:sldMkLst>
          <pc:docMk/>
          <pc:sldMk cId="64577220" sldId="406"/>
        </pc:sldMkLst>
      </pc:sldChg>
    </pc:docChg>
  </pc:docChgLst>
  <pc:docChgLst>
    <pc:chgData name="Iain Styles" userId="befbdaae-53f8-4d26-a8dc-3366b09f768a" providerId="ADAL" clId="{EC32E1E7-569B-5A48-B30C-DB697CEB8225}"/>
    <pc:docChg chg="delSld modSld modSection">
      <pc:chgData name="Iain Styles" userId="befbdaae-53f8-4d26-a8dc-3366b09f768a" providerId="ADAL" clId="{EC32E1E7-569B-5A48-B30C-DB697CEB8225}" dt="2024-11-11T05:31:57.740" v="62" actId="2696"/>
      <pc:docMkLst>
        <pc:docMk/>
      </pc:docMkLst>
      <pc:sldChg chg="modSp modAnim">
        <pc:chgData name="Iain Styles" userId="befbdaae-53f8-4d26-a8dc-3366b09f768a" providerId="ADAL" clId="{EC32E1E7-569B-5A48-B30C-DB697CEB8225}" dt="2024-11-11T04:59:04.839" v="27" actId="20577"/>
        <pc:sldMkLst>
          <pc:docMk/>
          <pc:sldMk cId="780336828" sldId="301"/>
        </pc:sldMkLst>
      </pc:sldChg>
      <pc:sldChg chg="modSp del mod">
        <pc:chgData name="Iain Styles" userId="befbdaae-53f8-4d26-a8dc-3366b09f768a" providerId="ADAL" clId="{EC32E1E7-569B-5A48-B30C-DB697CEB8225}" dt="2024-11-11T05:00:57.947" v="35" actId="2696"/>
        <pc:sldMkLst>
          <pc:docMk/>
          <pc:sldMk cId="504524839" sldId="308"/>
        </pc:sldMkLst>
      </pc:sldChg>
      <pc:sldChg chg="modSp">
        <pc:chgData name="Iain Styles" userId="befbdaae-53f8-4d26-a8dc-3366b09f768a" providerId="ADAL" clId="{EC32E1E7-569B-5A48-B30C-DB697CEB8225}" dt="2024-11-11T05:01:02.972" v="36"/>
        <pc:sldMkLst>
          <pc:docMk/>
          <pc:sldMk cId="1202893673" sldId="309"/>
        </pc:sldMkLst>
      </pc:sldChg>
      <pc:sldChg chg="del">
        <pc:chgData name="Iain Styles" userId="befbdaae-53f8-4d26-a8dc-3366b09f768a" providerId="ADAL" clId="{EC32E1E7-569B-5A48-B30C-DB697CEB8225}" dt="2024-11-11T05:10:54.013" v="37" actId="2696"/>
        <pc:sldMkLst>
          <pc:docMk/>
          <pc:sldMk cId="1441943578" sldId="316"/>
        </pc:sldMkLst>
      </pc:sldChg>
      <pc:sldChg chg="modSp mod">
        <pc:chgData name="Iain Styles" userId="befbdaae-53f8-4d26-a8dc-3366b09f768a" providerId="ADAL" clId="{EC32E1E7-569B-5A48-B30C-DB697CEB8225}" dt="2024-11-11T04:56:13.241" v="24" actId="20577"/>
        <pc:sldMkLst>
          <pc:docMk/>
          <pc:sldMk cId="3211664744" sldId="325"/>
        </pc:sldMkLst>
      </pc:sldChg>
      <pc:sldChg chg="del">
        <pc:chgData name="Iain Styles" userId="befbdaae-53f8-4d26-a8dc-3366b09f768a" providerId="ADAL" clId="{EC32E1E7-569B-5A48-B30C-DB697CEB8225}" dt="2024-11-11T05:31:57.740" v="62" actId="2696"/>
        <pc:sldMkLst>
          <pc:docMk/>
          <pc:sldMk cId="3757354000" sldId="332"/>
        </pc:sldMkLst>
      </pc:sldChg>
      <pc:sldChg chg="modSp modAnim">
        <pc:chgData name="Iain Styles" userId="befbdaae-53f8-4d26-a8dc-3366b09f768a" providerId="ADAL" clId="{EC32E1E7-569B-5A48-B30C-DB697CEB8225}" dt="2024-11-11T05:20:08.247" v="61" actId="113"/>
        <pc:sldMkLst>
          <pc:docMk/>
          <pc:sldMk cId="2795853998" sldId="347"/>
        </pc:sldMkLst>
      </pc:sldChg>
      <pc:sldChg chg="modSp mod">
        <pc:chgData name="Iain Styles" userId="befbdaae-53f8-4d26-a8dc-3366b09f768a" providerId="ADAL" clId="{EC32E1E7-569B-5A48-B30C-DB697CEB8225}" dt="2024-11-10T20:14:03.434" v="16" actId="20577"/>
        <pc:sldMkLst>
          <pc:docMk/>
          <pc:sldMk cId="3530153824" sldId="3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63D2-87F0-A410-D603-7DF62838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B84B6-4A05-EA85-F615-4DA789EEB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31BE9-8587-B323-26C0-22E76E2E3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D6090-2C27-75FC-3D4C-7790141468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D1A0D-4B5B-A068-F8E0-6FD025A6F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96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CE49-56BD-1B3B-EBE4-E522F818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FD680-D62C-8048-0375-13B11FCBD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DAD8A-CB65-34E9-DF3F-6C54115D9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A074B-9174-A1A5-BC65-7584B69934C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4A2FF-0620-DF5D-E01C-3DBDD5FAE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49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2CCFD-4D67-216D-5E3F-D3FB6E833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CA5CB-AD4F-87C0-6077-09A8F1D0C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E58AD-C45F-A312-8EAF-55F95DA75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23586-D51E-1EE4-F459-C2BF497B93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25B0B-4858-0299-F4C3-6AB797AA2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57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AE7A-C5FB-A193-70FE-C963D340A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A9DCB-E118-BD6D-5FD8-A645BE5D9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1CFEB-2D55-90FE-27EF-2A996BCFA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13647-4CA9-8D27-5E5C-58C2DBA238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9F427-613E-2AE1-0925-CD7233340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21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FFA0-AD67-C179-EA05-46663D8F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07E35-DD80-4499-4435-79EC48ABB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291D3-D11F-927D-D5AC-C0B3F1D6E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E89C8-AF7E-6B71-BE29-8C542E9467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F2A5D-084B-9BF9-ABDD-8339ECBE6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08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C901-D9AB-DDFD-52CB-BC1C5201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344FC-A7E7-FB9B-78C9-A9B403A40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78444-1C32-8A36-AFA7-ECC0BB1E8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9D4C5-E4C6-5BEA-3E64-4EC2DD740E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494C6-EDA2-0B08-86C0-293175B23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17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7600-F20B-4515-BEB6-747F1317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19D84-FE44-6612-1C5F-92CF0335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FBD04-44B0-D5D4-190C-28C1B9D8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D2274-645B-0159-58D4-F1765C94E7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0E864-21D9-BC68-EC5C-ACD4FEB2A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24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E9104-60EE-CBBA-CFA6-80E130F3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F51F9-AAD9-4567-3B97-DD0A2C7A5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EABC2-C479-558E-480B-92810327F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6693E-C329-E521-68B5-9F980E8510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9F0A4-000C-3DF2-87F4-36981A419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8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1: Logic </a:t>
            </a:r>
            <a:r>
              <a:rPr lang="en-US"/>
              <a:t>in 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420-8FD3-BC84-2159-1284AA6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466490" cy="632219"/>
          </a:xfrm>
        </p:spPr>
        <p:txBody>
          <a:bodyPr/>
          <a:lstStyle/>
          <a:p>
            <a:r>
              <a:rPr lang="en-GB" dirty="0"/>
              <a:t>Logical Reasoning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93917A6-42C9-39B1-6F89-C62C24F98C9C}"/>
              </a:ext>
            </a:extLst>
          </p:cNvPr>
          <p:cNvGraphicFramePr>
            <a:graphicFrameLocks noGrp="1"/>
          </p:cNvGraphicFramePr>
          <p:nvPr/>
        </p:nvGraphicFramePr>
        <p:xfrm>
          <a:off x="1920105" y="1723850"/>
          <a:ext cx="35800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88">
                  <a:extLst>
                    <a:ext uri="{9D8B030D-6E8A-4147-A177-3AD203B41FA5}">
                      <a16:colId xmlns:a16="http://schemas.microsoft.com/office/drawing/2014/main" val="367807435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699260231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15861596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469432819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252918278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820923377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778976473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168917412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59560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156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495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611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4804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6000D"/>
                          </a:solidFill>
                        </a:rPr>
                        <a:t>?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539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59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5412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DB4810C-7148-1911-8147-F936F583E8DE}"/>
              </a:ext>
            </a:extLst>
          </p:cNvPr>
          <p:cNvSpPr txBox="1"/>
          <p:nvPr/>
        </p:nvSpPr>
        <p:spPr>
          <a:xfrm>
            <a:off x="7243380" y="413776"/>
            <a:ext cx="49258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Einstein’s Riddle</a:t>
            </a:r>
          </a:p>
          <a:p>
            <a:pPr>
              <a:buFont typeface="+mj-lt"/>
              <a:buAutoNum type="arabicPeriod"/>
            </a:pPr>
            <a:r>
              <a:rPr lang="en-GB" dirty="0"/>
              <a:t>There are five houses.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Englishman lives in the red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Spaniard owns the dog.</a:t>
            </a:r>
          </a:p>
          <a:p>
            <a:pPr>
              <a:buFont typeface="+mj-lt"/>
              <a:buAutoNum type="arabicPeriod"/>
            </a:pPr>
            <a:r>
              <a:rPr lang="en-GB" dirty="0"/>
              <a:t>Coffee is drunk in the green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Ukrainian drinks tea.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green house is immediately to the right of the ivory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Old Gold smoker owns snails.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yellow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Milk is drunk in the middle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in the first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man who smokes Chesterfields lives in the house next to the man with the fox.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house next to the house where the horse is kept.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Lucky Strike smoker drinks orange juice.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Japanese smokes Parliaments.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next to the blue house.</a:t>
            </a:r>
          </a:p>
          <a:p>
            <a:endParaRPr lang="en-GB" dirty="0"/>
          </a:p>
          <a:p>
            <a:r>
              <a:rPr lang="en-GB" b="1" dirty="0"/>
              <a:t>Who drinks water?</a:t>
            </a:r>
          </a:p>
          <a:p>
            <a:r>
              <a:rPr lang="en-GB" b="1" dirty="0"/>
              <a:t>Who owns the zebra? </a:t>
            </a:r>
          </a:p>
        </p:txBody>
      </p:sp>
    </p:spTree>
    <p:extLst>
      <p:ext uri="{BB962C8B-B14F-4D97-AF65-F5344CB8AC3E}">
        <p14:creationId xmlns:p14="http://schemas.microsoft.com/office/powerpoint/2010/main" val="149686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A963-9BEF-4183-42A9-E5B9658A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1606048" cy="632219"/>
          </a:xfrm>
        </p:spPr>
        <p:txBody>
          <a:bodyPr/>
          <a:lstStyle/>
          <a:p>
            <a:r>
              <a:rPr lang="en-US" dirty="0"/>
              <a:t>Graphical Representations of Knowledge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41DD5-A4E6-29C8-2B6F-086839C8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919ED9-55D3-083A-2BCE-F4B38254F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014" y="1288486"/>
            <a:ext cx="6454586" cy="485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9B34D4-BDB0-F547-4C81-4D7A3C2452A7}"/>
              </a:ext>
            </a:extLst>
          </p:cNvPr>
          <p:cNvSpPr txBox="1"/>
          <p:nvPr/>
        </p:nvSpPr>
        <p:spPr>
          <a:xfrm>
            <a:off x="103271" y="6320983"/>
            <a:ext cx="8123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https://commons.wikimedia.org/wiki/File:Conceptual_Diagram_-_Example.svg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Original image by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Jayarintha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licensed under the </a:t>
            </a:r>
            <a:r>
              <a:rPr lang="en-GB" sz="1200" b="0" i="0" u="none" strike="noStrike" dirty="0">
                <a:solidFill>
                  <a:srgbClr val="66336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w:en:Creative Commons"/>
              </a:rPr>
              <a:t>Creative Commons</a:t>
            </a:r>
            <a:r>
              <a:rPr lang="en-GB" sz="1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sz="1200" b="0" i="0" u="none" strike="noStrike" dirty="0">
                <a:solidFill>
                  <a:srgbClr val="66336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creativecommons:by-sa/4.0/deed.en"/>
              </a:rPr>
              <a:t>Attribution-Share Alike 4.0 International</a:t>
            </a:r>
            <a:r>
              <a:rPr lang="en-GB" sz="1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license.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71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9A62-E561-51B6-9EDD-F13FF08F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362903" cy="632219"/>
          </a:xfrm>
        </p:spPr>
        <p:txBody>
          <a:bodyPr/>
          <a:lstStyle/>
          <a:p>
            <a:r>
              <a:rPr lang="en-US" dirty="0"/>
              <a:t>Causal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28BC-6D00-3057-4E91-E3130D037A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If it is raining I carry an umbrella</a:t>
            </a:r>
          </a:p>
          <a:p>
            <a:r>
              <a:rPr lang="en-US" sz="2000" dirty="0"/>
              <a:t>It isn’t raining</a:t>
            </a:r>
          </a:p>
          <a:p>
            <a:r>
              <a:rPr lang="en-US" sz="2000" dirty="0"/>
              <a:t>Therefore …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It is raining.</a:t>
            </a:r>
          </a:p>
          <a:p>
            <a:r>
              <a:rPr lang="en-US" sz="2000" dirty="0"/>
              <a:t>Everyone is carrying an umbrella.</a:t>
            </a:r>
          </a:p>
          <a:p>
            <a:r>
              <a:rPr lang="en-US" sz="2000" dirty="0"/>
              <a:t>Therefore, umbrellas cause rain.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7" name="Picture Placeholder 6" descr="Person holding and standing under umbrella in rain, wearing outdoor jacket">
            <a:extLst>
              <a:ext uri="{FF2B5EF4-FFF2-40B4-BE49-F238E27FC236}">
                <a16:creationId xmlns:a16="http://schemas.microsoft.com/office/drawing/2014/main" id="{C1E493F8-6512-34E8-A1DF-0B4EB716BEB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0785" r="20785"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56E30-C871-224B-8292-C2E49478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4" descr="Directed acyclic graph - Wikipedia">
            <a:extLst>
              <a:ext uri="{FF2B5EF4-FFF2-40B4-BE49-F238E27FC236}">
                <a16:creationId xmlns:a16="http://schemas.microsoft.com/office/drawing/2014/main" id="{9919D384-09FC-22FF-A023-23BFF72CC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182" y="4602780"/>
            <a:ext cx="1385716" cy="190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undefined">
            <a:extLst>
              <a:ext uri="{FF2B5EF4-FFF2-40B4-BE49-F238E27FC236}">
                <a16:creationId xmlns:a16="http://schemas.microsoft.com/office/drawing/2014/main" id="{B2B2A22C-6268-7C12-1A22-4180E4FCF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48" y="4894583"/>
            <a:ext cx="2678787" cy="171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08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46244" cy="6322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  <a:effectLst/>
              </a:rPr>
              <a:t>Successful students will be able to:</a:t>
            </a:r>
          </a:p>
          <a:p>
            <a:endParaRPr lang="en-GB" sz="2400" dirty="0">
              <a:solidFill>
                <a:schemeClr val="tx2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Gain a systematic understanding of knowledge, principles and procedures of knowledge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a critical awareness and evaluation of current and complex issues and developments in knowledge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critical understanding of research techniques in knowledge engineering and ability to critically evaluate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  <a:effectLst/>
              </a:rPr>
              <a:t>Demonstrate innovative application of the knowledge, principles and procedures of knowledge engineering in making sound judgements and proposing new hypotheses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9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46244" cy="632219"/>
          </a:xfrm>
        </p:spPr>
        <p:txBody>
          <a:bodyPr/>
          <a:lstStyle/>
          <a:p>
            <a:r>
              <a:rPr lang="en-US" dirty="0"/>
              <a:t>Outline Syllabus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First order logic 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latin typeface="Helvetica" pitchFamily="2" charset="0"/>
              </a:rPr>
              <a:t>Natural Deduction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Automated 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Knowledge and knowledge representation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Knowledge Bases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latin typeface="Helvetica" pitchFamily="2" charset="0"/>
              </a:rPr>
              <a:t>Knowledge Graphs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Large Language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Reasoning under Uncertainty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Probabilities, conditional independence;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Bayesian networks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  <a:effectLst/>
                <a:latin typeface="Helvetica" pitchFamily="2" charset="0"/>
              </a:rPr>
              <a:t>Causal Reasoning (if time)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5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746067" cy="632219"/>
          </a:xfrm>
        </p:spPr>
        <p:txBody>
          <a:bodyPr/>
          <a:lstStyle/>
          <a:p>
            <a:r>
              <a:rPr lang="en-US" dirty="0"/>
              <a:t>How the Course will be Taught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Lectures will be kept short-</a:t>
            </a:r>
            <a:r>
              <a:rPr lang="en-US" sz="2000" dirty="0" err="1">
                <a:solidFill>
                  <a:schemeClr val="tx2"/>
                </a:solidFill>
              </a:rPr>
              <a:t>ish</a:t>
            </a:r>
            <a:r>
              <a:rPr lang="en-US" sz="2000" dirty="0">
                <a:solidFill>
                  <a:schemeClr val="tx2"/>
                </a:solidFill>
              </a:rPr>
              <a:t> and single topic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There are extensive written notes on canvas. You need to read these.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Lots of problems to work though – some paper-based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Plenty of live 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We will code almost everything ourselves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libraries for this are bad/nonexistent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develops understanding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a little more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10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0F3D5E-9D85-3B64-0312-3083D6A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746067" cy="632219"/>
          </a:xfrm>
        </p:spPr>
        <p:txBody>
          <a:bodyPr/>
          <a:lstStyle/>
          <a:p>
            <a:r>
              <a:rPr lang="en-US" dirty="0"/>
              <a:t>Assessment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DFB13F-7034-BFAE-EE4E-1ADA9EC3F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Single Assessment due Monday 9/16 December at 0900.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Released </a:t>
            </a:r>
            <a:r>
              <a:rPr lang="en-US" sz="2400" dirty="0">
                <a:solidFill>
                  <a:schemeClr val="tx2"/>
                </a:solidFill>
              </a:rPr>
              <a:t>at 0900 on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Wednesday this week – we will have a session to introduce the assessment and allow you to ask questions and start work on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week will include one session when you can ask questions and work on the assessment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exercises and assessments are chosen to test your skills and understanding, not to test your domain knowledge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1B5E-1EDE-1F9A-D487-C8179021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664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420-8FD3-BC84-2159-1284AA6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466490" cy="632219"/>
          </a:xfrm>
        </p:spPr>
        <p:txBody>
          <a:bodyPr/>
          <a:lstStyle/>
          <a:p>
            <a:r>
              <a:rPr lang="en-GB" dirty="0"/>
              <a:t>Can you solve them?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93917A6-42C9-39B1-6F89-C62C24F98C9C}"/>
              </a:ext>
            </a:extLst>
          </p:cNvPr>
          <p:cNvGraphicFramePr>
            <a:graphicFrameLocks noGrp="1"/>
          </p:cNvGraphicFramePr>
          <p:nvPr/>
        </p:nvGraphicFramePr>
        <p:xfrm>
          <a:off x="1920105" y="1723850"/>
          <a:ext cx="35800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88">
                  <a:extLst>
                    <a:ext uri="{9D8B030D-6E8A-4147-A177-3AD203B41FA5}">
                      <a16:colId xmlns:a16="http://schemas.microsoft.com/office/drawing/2014/main" val="367807435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699260231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158615965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1469432819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252918278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3820923377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778976473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4168917412"/>
                    </a:ext>
                  </a:extLst>
                </a:gridCol>
                <a:gridCol w="397788">
                  <a:extLst>
                    <a:ext uri="{9D8B030D-6E8A-4147-A177-3AD203B41FA5}">
                      <a16:colId xmlns:a16="http://schemas.microsoft.com/office/drawing/2014/main" val="259560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4156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2495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611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4804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D6000D"/>
                          </a:solidFill>
                        </a:rPr>
                        <a:t>?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539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659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5412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DB4810C-7148-1911-8147-F936F583E8DE}"/>
              </a:ext>
            </a:extLst>
          </p:cNvPr>
          <p:cNvSpPr txBox="1"/>
          <p:nvPr/>
        </p:nvSpPr>
        <p:spPr>
          <a:xfrm>
            <a:off x="7243380" y="413776"/>
            <a:ext cx="49258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Einstein’s Riddle</a:t>
            </a:r>
          </a:p>
          <a:p>
            <a:pPr>
              <a:buFont typeface="+mj-lt"/>
              <a:buAutoNum type="arabicPeriod"/>
            </a:pPr>
            <a:r>
              <a:rPr lang="en-GB" dirty="0"/>
              <a:t>There are five houses.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Englishman lives in the red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Spaniard owns the dog.</a:t>
            </a:r>
          </a:p>
          <a:p>
            <a:pPr>
              <a:buFont typeface="+mj-lt"/>
              <a:buAutoNum type="arabicPeriod"/>
            </a:pPr>
            <a:r>
              <a:rPr lang="en-GB" dirty="0"/>
              <a:t>Coffee is drunk in the green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Ukrainian drinks tea.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green house is immediately to the right of the ivory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Old Gold smoker owns snails.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yellow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Milk is drunk in the middle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in the first house.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man who smokes Chesterfields lives in the house next to the man with the fox.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Kools</a:t>
            </a:r>
            <a:r>
              <a:rPr lang="en-GB" dirty="0"/>
              <a:t> are smoked in the house next to the house where the horse is kept.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Lucky Strike smoker drinks orange juice.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Japanese smokes Parliaments.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Norwegian lives next to the blue house.</a:t>
            </a:r>
          </a:p>
          <a:p>
            <a:endParaRPr lang="en-GB" dirty="0"/>
          </a:p>
          <a:p>
            <a:r>
              <a:rPr lang="en-GB" b="1" dirty="0"/>
              <a:t>Who drinks water?</a:t>
            </a:r>
          </a:p>
          <a:p>
            <a:r>
              <a:rPr lang="en-GB" b="1" dirty="0"/>
              <a:t>Who owns the zebra? </a:t>
            </a:r>
          </a:p>
        </p:txBody>
      </p:sp>
    </p:spTree>
    <p:extLst>
      <p:ext uri="{BB962C8B-B14F-4D97-AF65-F5344CB8AC3E}">
        <p14:creationId xmlns:p14="http://schemas.microsoft.com/office/powerpoint/2010/main" val="212635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Exercise: Are you Logical?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87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38D0-F832-F2BF-DC7D-C0A09355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84738" cy="632219"/>
          </a:xfrm>
        </p:spPr>
        <p:txBody>
          <a:bodyPr/>
          <a:lstStyle/>
          <a:p>
            <a:r>
              <a:rPr lang="en-US" dirty="0"/>
              <a:t>What reasoning abilities did you use?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E520D-F1B0-A8BE-0DB8-734FB90E0B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 these tasks require intelligence?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do they have in common?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acquired incrementally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When new knowledge is discovered, have to revisit old knowledge to draw conclusions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write computer programs to solve them?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write one computer program that will solve them all?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are games like these relevant to real-world problems?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14C32-8649-7752-5D48-8A5FD4AE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2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Why, in an era of big data, do we need to study logic?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Are models learned from data always correct?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What if we need provably correct results?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True intelligence needs to be able to </a:t>
            </a:r>
            <a:r>
              <a:rPr b="1" dirty="0"/>
              <a:t>reason</a:t>
            </a:r>
            <a:r>
              <a:rPr dirty="0"/>
              <a:t> </a:t>
            </a:r>
            <a:r>
              <a:rPr dirty="0" err="1"/>
              <a:t>rigourously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onte-Carlo tree search in AlphaGo . a Each simulation traverses the tree by selecting the edge with maximum action-value Q , plus a bonus u ( P ) that depends on a stored prior probability P for that edge. b The leaf node may be expanded; the new node is processed once by the policy network p σ and the output probabilities are stored as prior probabilities P for each action. ">
            <a:extLst>
              <a:ext uri="{FF2B5EF4-FFF2-40B4-BE49-F238E27FC236}">
                <a16:creationId xmlns:a16="http://schemas.microsoft.com/office/drawing/2014/main" id="{487B3CCE-E903-8AFF-ED45-B52E11457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314" y="4084660"/>
            <a:ext cx="5929686" cy="201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1313" cy="632219"/>
          </a:xfrm>
        </p:spPr>
        <p:txBody>
          <a:bodyPr/>
          <a:lstStyle/>
          <a:p>
            <a:r>
              <a:rPr dirty="0"/>
              <a:t>Symbol Manipulation and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5602357" cy="4905623"/>
          </a:xfrm>
        </p:spPr>
        <p:txBody>
          <a:bodyPr>
            <a:normAutofit fontScale="92500" lnSpcReduction="10000"/>
          </a:bodyPr>
          <a:lstStyle/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Early AI researchers regarded reasoning as central to intelligence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Minsky, McCarthy et al placed great emphasis on symbol manipulation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Expert systems were very popular in the 1970s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Why?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And why did </a:t>
            </a:r>
            <a:r>
              <a:rPr lang="en-US" dirty="0"/>
              <a:t>symbolic AI</a:t>
            </a:r>
            <a:r>
              <a:rPr dirty="0"/>
              <a:t> </a:t>
            </a:r>
            <a:r>
              <a:rPr lang="en-US" dirty="0"/>
              <a:t>"</a:t>
            </a:r>
            <a:r>
              <a:rPr dirty="0"/>
              <a:t>fail</a:t>
            </a:r>
            <a:r>
              <a:rPr lang="en-US" dirty="0"/>
              <a:t>"</a:t>
            </a:r>
            <a:r>
              <a:rPr dirty="0"/>
              <a:t>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dirty="0"/>
              <a:t>Lots of current effort to get ML systems to do symbol manipulation</a:t>
            </a:r>
            <a:endParaRPr lang="en-US" dirty="0"/>
          </a:p>
          <a:p>
            <a:pPr marL="1257277" lvl="2" indent="-342900">
              <a:buFont typeface="Arial" panose="020B0604020202020204" pitchFamily="34" charset="0"/>
              <a:buChar char="•"/>
            </a:pPr>
            <a:r>
              <a:rPr lang="en-GB" dirty="0"/>
              <a:t>AlphaGo, </a:t>
            </a:r>
            <a:r>
              <a:rPr lang="en-GB" dirty="0" err="1"/>
              <a:t>AlphaFold</a:t>
            </a:r>
            <a:r>
              <a:rPr lang="en-GB" dirty="0"/>
              <a:t> both include elements of symbolic reasoning</a:t>
            </a:r>
            <a:endParaRPr dirty="0"/>
          </a:p>
        </p:txBody>
      </p:sp>
      <p:pic>
        <p:nvPicPr>
          <p:cNvPr id="1026" name="Picture 2" descr="How John McCarthy Shaped the Future of AI">
            <a:extLst>
              <a:ext uri="{FF2B5EF4-FFF2-40B4-BE49-F238E27FC236}">
                <a16:creationId xmlns:a16="http://schemas.microsoft.com/office/drawing/2014/main" id="{194228E6-628D-208D-896B-DB06697B7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898" y="1107853"/>
            <a:ext cx="3827280" cy="261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9299713" cy="632219"/>
          </a:xfrm>
        </p:spPr>
        <p:txBody>
          <a:bodyPr/>
          <a:lstStyle/>
          <a:p>
            <a:r>
              <a:rPr dirty="0"/>
              <a:t>Logic and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“If intelligence requires reasoning</a:t>
            </a:r>
          </a:p>
          <a:p>
            <a:pPr lvl="1"/>
            <a:r>
              <a:rPr lang="en-US" dirty="0"/>
              <a:t>And logic is the study of reasoning</a:t>
            </a:r>
          </a:p>
          <a:p>
            <a:pPr lvl="1"/>
            <a:r>
              <a:rPr lang="en-US" dirty="0"/>
              <a:t>Then…?”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A more cliched example: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dirty="0"/>
              <a:t>Socrates is a man</a:t>
            </a:r>
          </a:p>
          <a:p>
            <a:pPr lvl="1"/>
            <a:r>
              <a:rPr dirty="0"/>
              <a:t>All men are mortal</a:t>
            </a:r>
          </a:p>
          <a:p>
            <a:pPr lvl="1"/>
            <a:r>
              <a:rPr lang="en-US" dirty="0"/>
              <a:t>	</a:t>
            </a:r>
            <a:r>
              <a:rPr dirty="0"/>
              <a:t>…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dirty="0"/>
              <a:t> </a:t>
            </a:r>
            <a:r>
              <a:rPr b="1" dirty="0"/>
              <a:t>deductive truth</a:t>
            </a:r>
            <a:r>
              <a:rPr lang="en-US" b="1" dirty="0"/>
              <a:t>.</a:t>
            </a: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Should AI systems be able to do this?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F836-CC6C-33CD-3D4D-1706688C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24FA-482F-91A2-2909-DE7922FF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656D8-FAE4-7060-1272-E6D23C15E1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25360-FC24-B3CC-753D-91599866EF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4635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Humans know 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It is colder in the winter than in the summer.</a:t>
            </a: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Mount Everest is the tallest mountain in the world.</a:t>
            </a:r>
          </a:p>
          <a:p>
            <a:pPr marL="0" indent="0">
              <a:buNone/>
            </a:pPr>
            <a:r>
              <a:rPr lang="en-GB" sz="2400" b="0" dirty="0">
                <a:solidFill>
                  <a:schemeClr val="tx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- 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Facts are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grounded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: we know what a mountain is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How do these facts differ from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58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Humans can reason over facts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We can make decisions and draw conclusions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Can we get computers to do the same?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Computers require a formal language: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Logic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Logic – the study of correct reasoning- will allow us to formally represent facts and reason about them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Propositional Logic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a simple form of logic that allows us to do just this</a:t>
            </a: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441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proposition is a statement that can be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True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or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False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colder in the winter than in the summer.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Mount Everest is the tallest mountain in the world.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a stated proposition and is like an axiom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derived purely from the premise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Socrates is a man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All men are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Therefore, Socrates is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81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Connectives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“Water makes you wet” is 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atomic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proposition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We can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connect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these together to get new compound propositions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car is blue and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fuelled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by petrol (The car is blue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and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car is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fuelled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by petrol)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Books have hard or soft covers (Books have hard covers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or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books have soft covers)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If the sun is shining then it is daytime (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If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the sun is shining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then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daytime)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821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If we use correct reasoning, if the premises of an argument are true then its conclusion must be True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Socrates is a man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men are mortal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 Socrates is mortal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red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apples are tasty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all red apples are tasty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26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291040" cy="632219"/>
          </a:xfrm>
        </p:spPr>
        <p:txBody>
          <a:bodyPr/>
          <a:lstStyle/>
          <a:p>
            <a:r>
              <a:rPr lang="en-US" dirty="0"/>
              <a:t>Validity and Soundness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red 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tasty  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some red apples are tasty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This is an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INVALID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argument</a:t>
            </a:r>
          </a:p>
          <a:p>
            <a:pPr marL="171445" lvl="1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Is our reasoning correct: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apples are red 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Some apples are tasty </a:t>
            </a:r>
          </a:p>
          <a:p>
            <a:pPr marL="971533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Therefore, some red apples are tasty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This is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VALID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but is not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SOUND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628633" lvl="2"/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171445" lvl="1"/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CORRECT DEDUCTIVE REASONING MUST BE BOTH VALID AND SOUND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35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Exercise: Elementary, my dear Watson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423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DC4C-C32C-32D5-B8CE-E25BC1F0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5D7C-5389-8192-C419-5E98474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11E51-9A4B-2755-8FB0-DEBB969C8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5E9AC-DF6F-2DEC-C2DA-FFDC7A0262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371962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Formal Propositional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Humans are excellent at reasoning using natural language, but machines are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To automate deductive reasoning, we need to reduce it to symbol manipulation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One symbol to represent each atomic proposition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Each symbol can be True or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07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66610" cy="632219"/>
          </a:xfrm>
        </p:spPr>
        <p:txBody>
          <a:bodyPr/>
          <a:lstStyle/>
          <a:p>
            <a:r>
              <a:rPr lang="en-US" dirty="0"/>
              <a:t>Making Logical Arguments Formal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i="1" dirty="0">
                <a:solidFill>
                  <a:schemeClr val="tx1">
                    <a:lumMod val="50000"/>
                  </a:schemeClr>
                </a:solidFill>
              </a:rPr>
              <a:t>If it is not raining and I am going outdoors then I do not take a coat or an umbrella.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What are the atomic propositions?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It is raining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am going outdoors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will take a coat  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will take an umbrella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Each can be True or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3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If it is not raining and I am going outdoors then I do not take a coat or an umbrella.</a:t>
                </a:r>
              </a:p>
              <a:p>
                <a:endParaRPr lang="en-GB" b="0" dirty="0">
                  <a:solidFill>
                    <a:srgbClr val="CCCCCC"/>
                  </a:solidFill>
                  <a:effectLst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In terms of the atomic propositions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R, O, C, U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we can write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:</a:t>
                </a:r>
              </a:p>
              <a:p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((not R) and O) then not (C or U)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Four logical connectives are used here. We will assign them symbols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(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Negation):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False, and False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And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(Conjunction):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only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True and is otherwise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Or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(Disjunction):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either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or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Q,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or both of them are True and is only False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False.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Material Implication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(if):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.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except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24" t="-1292" r="-965" b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68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Truth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A3E9-3A89-BC53-C1D5-0B2280F15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The effect of Logical connectives is best illustrated by their Truth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A Truth table tells us whether a Compound proposition is True or False depending on the Truth of the compound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000" i="1" dirty="0">
                <a:solidFill>
                  <a:schemeClr val="tx1">
                    <a:lumMod val="50000"/>
                  </a:schemeClr>
                </a:solidFill>
              </a:rPr>
              <a:t>Is the statement “if it is cold I wear a hat” True or False if the statements “I am wearing a hat” and “it is not cold” are both true?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Understanding these will help us to model our knowledge using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367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Negation (Not)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The simplest connective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unary operator that changes a proposition from True to False or from False to True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False, and False when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13668" y="3104930"/>
              <a:ext cx="5249748" cy="23682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4874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2624874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1105753"/>
                  </p:ext>
                </p:extLst>
              </p:nvPr>
            </p:nvGraphicFramePr>
            <p:xfrm>
              <a:off x="3113668" y="3104930"/>
              <a:ext cx="5249748" cy="23682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4874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2624874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83" t="-6154" r="-966" b="-19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84479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Conjunction (And)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binary operator (connects two propositions)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True only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True and is otherwise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0592078"/>
                  </p:ext>
                </p:extLst>
              </p:nvPr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0556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Disjunction (Or)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A binary operator (connects two propositions)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0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is True when either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or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Q,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or both of them are True and is only False when both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and 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are False</a:t>
                </a:r>
                <a:endParaRPr lang="en-US" sz="2000" i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 r="-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508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400" i="1" dirty="0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409648"/>
                  </p:ext>
                </p:extLst>
              </p:nvPr>
            </p:nvGraphicFramePr>
            <p:xfrm>
              <a:off x="3660077" y="226858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9776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Material Implication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3"/>
                <a:ext cx="10502589" cy="4278185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More subtle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read as “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if P then Q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”.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the same as </a:t>
                </a:r>
                <a:r>
                  <a:rPr lang="en-US" sz="2000" b="1" dirty="0" err="1">
                    <a:solidFill>
                      <a:schemeClr val="tx1">
                        <a:lumMod val="50000"/>
                      </a:schemeClr>
                    </a:solidFill>
                  </a:rPr>
                  <a:t>if..then</a:t>
                </a: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 in programming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No native Python operator.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Can you write a lambda function 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implies(P,Q)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3"/>
                <a:ext cx="10502589" cy="4278185"/>
              </a:xfrm>
              <a:blipFill>
                <a:blip r:embed="rId2"/>
                <a:stretch>
                  <a:fillRect l="-605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707969" y="92442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2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6084548"/>
                  </p:ext>
                </p:extLst>
              </p:nvPr>
            </p:nvGraphicFramePr>
            <p:xfrm>
              <a:off x="7707969" y="924428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38" t="-4615" r="-2885" b="-3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372465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Biconditional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Not needed in our example, but quite common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200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is read as “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Q </a:t>
                </a:r>
                <a:r>
                  <a:rPr lang="en-US" sz="2000" i="1" dirty="0" err="1">
                    <a:solidFill>
                      <a:schemeClr val="tx1">
                        <a:lumMod val="50000"/>
                      </a:schemeClr>
                    </a:solidFill>
                  </a:rPr>
                  <a:t>iff</a:t>
                </a:r>
                <a:r>
                  <a:rPr lang="en-US" sz="2000" i="1" dirty="0">
                    <a:solidFill>
                      <a:schemeClr val="tx1">
                        <a:lumMod val="50000"/>
                      </a:schemeClr>
                    </a:solidFill>
                  </a:rPr>
                  <a:t> P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Not the same as </a:t>
                </a:r>
                <a:r>
                  <a:rPr lang="en-US" sz="2000" b="1" dirty="0" err="1">
                    <a:solidFill>
                      <a:schemeClr val="tx1">
                        <a:lumMod val="50000"/>
                      </a:schemeClr>
                    </a:solidFill>
                  </a:rPr>
                  <a:t>if..then</a:t>
                </a:r>
                <a:r>
                  <a:rPr lang="en-US" sz="2000" b="1" dirty="0">
                    <a:solidFill>
                      <a:schemeClr val="tx1">
                        <a:lumMod val="50000"/>
                      </a:schemeClr>
                    </a:solidFill>
                  </a:rPr>
                  <a:t> in programming</a:t>
                </a:r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1A3E9-3A89-BC53-C1D5-0B2280F15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838201" y="1107854"/>
                <a:ext cx="10502589" cy="1367718"/>
              </a:xfrm>
              <a:blipFill>
                <a:blip r:embed="rId2"/>
                <a:stretch>
                  <a:fillRect l="-605" t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43353"/>
                  </p:ext>
                </p:extLst>
              </p:nvPr>
            </p:nvGraphicFramePr>
            <p:xfrm>
              <a:off x="3626623" y="2686613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2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⟺</m:t>
                                </m:r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93E8CF6-98EE-90D7-79C9-1EF5509AFB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43353"/>
                  </p:ext>
                </p:extLst>
              </p:nvPr>
            </p:nvGraphicFramePr>
            <p:xfrm>
              <a:off x="3626623" y="2686613"/>
              <a:ext cx="3937311" cy="39134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437">
                      <a:extLst>
                        <a:ext uri="{9D8B030D-6E8A-4147-A177-3AD203B41FA5}">
                          <a16:colId xmlns:a16="http://schemas.microsoft.com/office/drawing/2014/main" val="3436357176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3952531839"/>
                        </a:ext>
                      </a:extLst>
                    </a:gridCol>
                    <a:gridCol w="1312437">
                      <a:extLst>
                        <a:ext uri="{9D8B030D-6E8A-4147-A177-3AD203B41FA5}">
                          <a16:colId xmlns:a16="http://schemas.microsoft.com/office/drawing/2014/main" val="158178234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54" r="-1923" b="-37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866647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161967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6964320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9580828"/>
                      </a:ext>
                    </a:extLst>
                  </a:tr>
                  <a:tr h="7726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18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02893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02D8-8EC7-391D-6071-D3968E1A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85985" cy="632219"/>
          </a:xfrm>
        </p:spPr>
        <p:txBody>
          <a:bodyPr/>
          <a:lstStyle/>
          <a:p>
            <a:r>
              <a:rPr lang="en-US" dirty="0"/>
              <a:t>Back to our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A3E9-3A89-BC53-C1D5-0B2280F15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0502589" cy="5368727"/>
          </a:xfrm>
        </p:spPr>
        <p:txBody>
          <a:bodyPr/>
          <a:lstStyle/>
          <a:p>
            <a:r>
              <a:rPr lang="en-US" sz="2000" i="1" dirty="0">
                <a:solidFill>
                  <a:schemeClr val="tx1">
                    <a:lumMod val="50000"/>
                  </a:schemeClr>
                </a:solidFill>
              </a:rPr>
              <a:t>If it is not raining and I am going outdoors then I do not take a coat or an umbrella.</a:t>
            </a:r>
          </a:p>
          <a:p>
            <a:pPr algn="ctr"/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((not R) and O) then not (C or U)</a:t>
            </a: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Exercise: Can you compute the Truth Table for this?</a:t>
            </a: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dirty="0">
              <a:solidFill>
                <a:schemeClr val="tx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8376-57A6-9FBD-E2FB-7AEE6702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2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68AA1-B0FB-5BAC-DA47-BB3695E0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109018-63B3-9D7B-F807-98FD0E63B8CE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73014"/>
          <a:ext cx="8128001" cy="629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7612492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441532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7740345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3896473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584875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329141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28643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78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073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2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2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60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87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12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71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43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569028"/>
                  </a:ext>
                </a:extLst>
              </a:tr>
              <a:tr h="3427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06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28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17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9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205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51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421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09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EF30F6-B75A-20BC-FD9A-02D24F73D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Exercise: Formal Dinners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D767-F10E-54CA-9634-06E9AF2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935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AA46-B817-7A8F-ECEB-07112B15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F93B-738E-D304-39A2-3B7A9397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17792-2C0C-600E-55F2-C075E64F0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DE0DB-8A02-870B-BABD-3F7D73ACAA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1778785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77BE-0A7C-A4F9-E8FE-CD2FEDED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296C-566B-CCB2-3DDF-8B255E322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have now studied enough knowledge to build a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knowledge base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What exactly do we mean by this?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introduce the concept of an intelligent 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agent lives in some abstract world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chess board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Roomba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medical database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agent has a goal that it must achieve.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52DF-788C-AC1E-E5E7-9A897260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5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FA3F-43EC-43EC-7385-90D1E72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90909" cy="632219"/>
          </a:xfrm>
        </p:spPr>
        <p:txBody>
          <a:bodyPr/>
          <a:lstStyle/>
          <a:p>
            <a:r>
              <a:rPr lang="en-US" dirty="0"/>
              <a:t>How can agents achieve their goals?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FC84-0840-C3BB-E249-1FE2C2B1F0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Examples of agent goals: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 the opponent’s King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Vacuum the entire floor area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a combination of medicines for a set of symptoms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must be able to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 its environment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opponent’s King is on square E8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cat’s bed is in the corner by the heater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Medicines X addresses disease Y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question about its environment to determine new knowledge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 move my knight to A6, what could happen?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Medicines A and B address diseases X and Y but should not be taken together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 over the knowledge to ask a set of questions that enable decisions to be taken that achieve the goal</a:t>
            </a:r>
          </a:p>
          <a:p>
            <a:pPr marL="1200127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39DEC-ECDD-D539-8328-888895C2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11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FA3F-43EC-43EC-7385-90D1E72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90909" cy="632219"/>
          </a:xfrm>
        </p:spPr>
        <p:txBody>
          <a:bodyPr/>
          <a:lstStyle/>
          <a:p>
            <a:r>
              <a:rPr lang="en-US" dirty="0"/>
              <a:t>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CFC84-0840-C3BB-E249-1FE2C2B1F0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knowledge base records what the agent knows as a set of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may contain some prior information (premises)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written in formal notation to enable computation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can update it as it discovers new things about the world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aims to find one or more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the knowledge base True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develop an 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39DEC-ECDD-D539-8328-888895C2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1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97ED-4D3C-995A-D281-C057F31D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Familiar Riddle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71E5E-BC56-DA14-B447-88522D39F9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Ahmed, Niamh, and Xin are three friends. They went for dinner together. Each of them ordered a main course (stew, </a:t>
            </a:r>
            <a:r>
              <a:rPr lang="en-GB" sz="2000" b="0" dirty="0" err="1">
                <a:solidFill>
                  <a:schemeClr val="tx1">
                    <a:lumMod val="50000"/>
                  </a:schemeClr>
                </a:solidFill>
                <a:effectLst/>
              </a:rPr>
              <a:t>daal</a:t>
            </a:r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, falafel) and a dessert (ice cream, apple pie, cheesecake. They each ordered a different main course and a different dessert. Use the following information to deduce who ordered what:</a:t>
            </a:r>
          </a:p>
          <a:p>
            <a:b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</a:br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1. The person who ordered the stew did not order the apple pie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2. Niamh ordered the Dhal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3. Ahmed ordered the ice cream or the apple pie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4. Xin did not order either the ice cream or the cheesecake</a:t>
            </a:r>
          </a:p>
          <a:p>
            <a:r>
              <a:rPr lang="en-GB" sz="2000" b="0" dirty="0">
                <a:solidFill>
                  <a:schemeClr val="tx1">
                    <a:lumMod val="50000"/>
                  </a:schemeClr>
                </a:solidFill>
                <a:effectLst/>
              </a:rPr>
              <a:t>5. The person who ordered the ice cream did not order the falafel</a:t>
            </a:r>
          </a:p>
          <a:p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Can you formalize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24952-CC75-0E51-7C14-170B245D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0047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C1DC4-52E4-677B-B070-F8719457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6E26-5DA6-93F3-5E1E-54D27EE5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62B5B-AA6A-7F5E-8535-EDA8E2E84B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61D8B-F3DE-8CE0-0A43-CB26647227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832998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 in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All men are mortal</a:t>
            </a:r>
          </a:p>
          <a:p>
            <a:pPr lvl="1"/>
            <a:r>
              <a:rPr lang="en-US" dirty="0"/>
              <a:t>Socrates is a man</a:t>
            </a:r>
          </a:p>
          <a:p>
            <a:pPr lvl="1"/>
            <a:r>
              <a:rPr lang="en-US" dirty="0"/>
              <a:t>Therefore Socrates is mortal</a:t>
            </a:r>
          </a:p>
          <a:p>
            <a:pPr lvl="1"/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We claim that this is sound and valid argument, but how do we</a:t>
            </a:r>
            <a:r>
              <a:rPr lang="en-US" b="1" dirty="0"/>
              <a:t> know</a:t>
            </a:r>
            <a:r>
              <a:rPr lang="en-US" dirty="0"/>
              <a:t> this?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Soundness is a matter of the truth of the propositions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Validity is whether the reasoning is correct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How can we unambiguously determine the validity of an argument?</a:t>
            </a:r>
          </a:p>
          <a:p>
            <a:pPr lvl="1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/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It is cold</a:t>
            </a:r>
          </a:p>
          <a:p>
            <a:pPr lvl="1"/>
            <a:r>
              <a:rPr lang="en-US" i="1" dirty="0"/>
              <a:t>Therefore, I wear a jacket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179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726-33B0-19CD-365F-EF8FA0C0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CB1AC-97BF-F1F8-744C-CB29D0DEE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Each line of the truth table is called a </a:t>
            </a:r>
            <a:r>
              <a:rPr lang="en-US" sz="2400" b="1" dirty="0">
                <a:solidFill>
                  <a:schemeClr val="tx2"/>
                </a:solidFill>
              </a:rPr>
              <a:t>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arguments can be </a:t>
            </a:r>
            <a:r>
              <a:rPr lang="en-US" sz="2400" dirty="0" err="1">
                <a:solidFill>
                  <a:schemeClr val="tx2"/>
                </a:solidFill>
              </a:rPr>
              <a:t>rigourously</a:t>
            </a:r>
            <a:r>
              <a:rPr lang="en-US" sz="2400" dirty="0">
                <a:solidFill>
                  <a:schemeClr val="tx2"/>
                </a:solidFill>
              </a:rPr>
              <a:t> checked by </a:t>
            </a:r>
            <a:r>
              <a:rPr lang="en-US" sz="2400" b="1" dirty="0">
                <a:solidFill>
                  <a:schemeClr val="tx2"/>
                </a:solidFill>
              </a:rPr>
              <a:t>enumerating all possible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argument is valid </a:t>
            </a:r>
            <a:r>
              <a:rPr lang="en-US" sz="2400" dirty="0" err="1">
                <a:solidFill>
                  <a:schemeClr val="tx2"/>
                </a:solidFill>
              </a:rPr>
              <a:t>iff</a:t>
            </a:r>
            <a:r>
              <a:rPr lang="en-US" sz="2400" dirty="0">
                <a:solidFill>
                  <a:schemeClr val="tx2"/>
                </a:solidFill>
              </a:rPr>
              <a:t> there is at least one model for which all of the premises are True and the conclusion is True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is known as </a:t>
            </a:r>
            <a:r>
              <a:rPr lang="en-US" sz="2400" b="1" dirty="0">
                <a:solidFill>
                  <a:schemeClr val="tx2"/>
                </a:solidFill>
              </a:rPr>
              <a:t>model checking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gold standard, but nearly always impractical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E14D-FA13-700A-7D85-0FC270CE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959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726-33B0-19CD-365F-EF8FA0C0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CB1AC-97BF-F1F8-744C-CB29D0DEE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One way around the combinatorial explosion problem is to identify common parts of an argument, model check those, and then use them as part of a larger argument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Consider our earlier argument (written in </a:t>
            </a:r>
            <a:r>
              <a:rPr lang="en-US" sz="2400" i="1" dirty="0">
                <a:solidFill>
                  <a:schemeClr val="tx2"/>
                </a:solidFill>
              </a:rPr>
              <a:t>sequent form):</a:t>
            </a:r>
          </a:p>
          <a:p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have verified this by truth table and can therefore take it as proven as rigorously as possible </a:t>
            </a:r>
            <a:r>
              <a:rPr lang="en-US" sz="2400" b="1" dirty="0">
                <a:solidFill>
                  <a:schemeClr val="tx2"/>
                </a:solidFill>
              </a:rPr>
              <a:t>(semantically correct). </a:t>
            </a:r>
            <a:r>
              <a:rPr lang="en-US" sz="2400" dirty="0">
                <a:solidFill>
                  <a:schemeClr val="tx2"/>
                </a:solidFill>
              </a:rPr>
              <a:t>We denote this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is known as </a:t>
            </a:r>
            <a:r>
              <a:rPr lang="en-US" sz="2400" b="1" dirty="0">
                <a:solidFill>
                  <a:schemeClr val="tx2"/>
                </a:solidFill>
              </a:rPr>
              <a:t>modus ponens</a:t>
            </a:r>
            <a:r>
              <a:rPr lang="en-US" sz="2400" dirty="0">
                <a:solidFill>
                  <a:schemeClr val="tx2"/>
                </a:solidFill>
              </a:rPr>
              <a:t> (method of affirming) and is widely used as the basis for automated 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E14D-FA13-700A-7D85-0FC270CE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85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 am not wearing a jacket</a:t>
            </a:r>
          </a:p>
          <a:p>
            <a:pPr lvl="1"/>
            <a:r>
              <a:rPr lang="en-US" i="1" dirty="0"/>
              <a:t>Therefore, it is not cold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Modus Tollens </a:t>
            </a:r>
            <a:r>
              <a:rPr lang="en-US" dirty="0"/>
              <a:t>(</a:t>
            </a:r>
            <a:r>
              <a:rPr lang="en-GB" dirty="0"/>
              <a:t>method of removing by taking away)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2545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576947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 am wearing a jacket</a:t>
            </a:r>
          </a:p>
          <a:p>
            <a:pPr lvl="1"/>
            <a:r>
              <a:rPr lang="en-US" i="1" dirty="0"/>
              <a:t>Therefore, it is cold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Affirming the consequent</a:t>
            </a:r>
            <a:r>
              <a:rPr lang="en-US" dirty="0"/>
              <a:t>, or </a:t>
            </a:r>
            <a:r>
              <a:rPr lang="en-US" i="1" dirty="0"/>
              <a:t>fallacy of the converse</a:t>
            </a:r>
            <a:r>
              <a:rPr lang="en-US" dirty="0"/>
              <a:t> 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9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257799" cy="4905623"/>
          </a:xfrm>
        </p:spPr>
        <p:txBody>
          <a:bodyPr>
            <a:normAutofit lnSpcReduction="10000"/>
          </a:bodyPr>
          <a:lstStyle/>
          <a:p>
            <a:pPr lvl="1"/>
            <a:r>
              <a:rPr lang="en-US" i="1" dirty="0"/>
              <a:t>If it is cold, I wear a jacket</a:t>
            </a:r>
          </a:p>
          <a:p>
            <a:pPr lvl="1"/>
            <a:r>
              <a:rPr lang="en-US" i="1" dirty="0"/>
              <a:t>It is not cold</a:t>
            </a:r>
          </a:p>
          <a:p>
            <a:pPr lvl="1"/>
            <a:r>
              <a:rPr lang="en-US" i="1" dirty="0"/>
              <a:t>Therefore, I am not wearing a jacket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In symbols: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Denying the antecedent</a:t>
            </a:r>
            <a:r>
              <a:rPr lang="en-US" dirty="0"/>
              <a:t> or </a:t>
            </a:r>
            <a:r>
              <a:rPr lang="en-US" i="1" dirty="0"/>
              <a:t>fallacy of the inverse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F196A-0ABE-E214-7876-A90157C5A9D4}"/>
              </a:ext>
            </a:extLst>
          </p:cNvPr>
          <p:cNvGraphicFramePr>
            <a:graphicFrameLocks noGrp="1"/>
          </p:cNvGraphicFramePr>
          <p:nvPr/>
        </p:nvGraphicFramePr>
        <p:xfrm>
          <a:off x="7255823" y="719665"/>
          <a:ext cx="3693225" cy="36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075">
                  <a:extLst>
                    <a:ext uri="{9D8B030D-6E8A-4147-A177-3AD203B41FA5}">
                      <a16:colId xmlns:a16="http://schemas.microsoft.com/office/drawing/2014/main" val="2361436391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2223057050"/>
                    </a:ext>
                  </a:extLst>
                </a:gridCol>
                <a:gridCol w="1231075">
                  <a:extLst>
                    <a:ext uri="{9D8B030D-6E8A-4147-A177-3AD203B41FA5}">
                      <a16:colId xmlns:a16="http://schemas.microsoft.com/office/drawing/2014/main" val="1024189543"/>
                    </a:ext>
                  </a:extLst>
                </a:gridCol>
              </a:tblGrid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C=&gt;J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6353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682276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2898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34919"/>
                  </a:ext>
                </a:extLst>
              </a:tr>
              <a:tr h="737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0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08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Truth tables are impractical for larger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15 variables – 2</a:t>
            </a:r>
            <a:r>
              <a:rPr lang="en-US" sz="2400" baseline="30000" dirty="0">
                <a:solidFill>
                  <a:schemeClr val="tx1">
                    <a:lumMod val="50000"/>
                  </a:schemeClr>
                </a:solidFill>
              </a:rPr>
              <a:t>15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= 32,768 models is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50 variables is challenging!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We could simplify by exploiting constraints and check only models that we cannot immediately rule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Not always obvious…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Can we instead formalize deductive reasoning?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616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A0A8-BE31-992F-30F9-AE580D89B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Model checking can be used to determine </a:t>
            </a:r>
            <a:r>
              <a:rPr lang="en-US" sz="2400" i="1" dirty="0">
                <a:solidFill>
                  <a:schemeClr val="tx1">
                    <a:lumMod val="50000"/>
                  </a:schemeClr>
                </a:solidFill>
              </a:rPr>
              <a:t>inference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These can be used to construct an argument to prove or disprove a proposition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Simple example: if P^Q is True, is P=&gt; Q True?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6918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Example of a Formal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1CD51-EFA5-D9A1-B4F4-775F3C9C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8392"/>
            <a:ext cx="5016500" cy="5080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40177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174B6E5-4754-1C2F-9CC8-EA431730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03861"/>
            <a:ext cx="50165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5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Common Inference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5996940" y="1893751"/>
          <a:ext cx="5000245" cy="2814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7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1677214">
                  <a:extLst>
                    <a:ext uri="{9D8B030D-6E8A-4147-A177-3AD203B41FA5}">
                      <a16:colId xmlns:a16="http://schemas.microsoft.com/office/drawing/2014/main" val="400969257"/>
                    </a:ext>
                  </a:extLst>
                </a:gridCol>
              </a:tblGrid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0045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A more complex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53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03580" y="1951057"/>
          <a:ext cx="9913620" cy="41664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606421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01451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037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32BF9C4-3368-A3DA-06E4-6F592A647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9595"/>
            <a:ext cx="5435600" cy="50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75F3F-D3A0-11E1-1327-5F92CEC64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277696"/>
            <a:ext cx="55118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77BE-0A7C-A4F9-E8FE-CD2FEDED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947245" cy="632219"/>
          </a:xfrm>
        </p:spPr>
        <p:txBody>
          <a:bodyPr/>
          <a:lstStyle/>
          <a:p>
            <a:r>
              <a:rPr lang="en-US" dirty="0"/>
              <a:t>Some more 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296C-566B-CCB2-3DDF-8B255E322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OR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52DF-788C-AC1E-E5E7-9A897260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54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E18669-38A6-361A-DB7C-0A2B8B447F90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28918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5288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AA55-F891-DDEE-F891-D39FD28C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30440" cy="632219"/>
          </a:xfrm>
        </p:spPr>
        <p:txBody>
          <a:bodyPr/>
          <a:lstStyle/>
          <a:p>
            <a:r>
              <a:rPr lang="en-US" dirty="0"/>
              <a:t>Proving Invalid Arguments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B97C-B95E-2FD9-9647-64BB8F9849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If you’re finding it hard to prove an argument, that could be because it is invalid!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You see if this is the case, you might try: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Proving the negation of the conclusion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 a contradiction by proving both the conclusion and its negation, or by deriving the negation of one of the premises</a:t>
            </a: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94A98-1221-A978-C6C6-9CA7FEC6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328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5E00-2BD2-711E-0890-BE0632C2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19DE-466A-E628-20EB-6D2E06B0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22D84-CBFB-92A3-3BFD-936EC6255E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E16FD-DE89-E089-0196-3BCBAE8898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7730776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0959-D2BF-8A22-0D96-2AA63DC0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8AA719-99CB-BBDE-EDE0-F0EEA4906A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Exercise: Natural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F988E-C089-617A-0C96-919B467E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538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AFF5-6124-47F0-B889-3EFC792B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A938C-8914-3151-DA01-4813EF8E6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Relationship between Logic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Propositional Logic – sentences that are True of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Formalisation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of Propositional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Knowledge 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Natural Deduction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Tomorrow: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Automated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Rule-based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Proof and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BCFC3-8D01-C567-A074-A5207B17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702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2772-B533-5CB5-176C-2D4924C5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059B-9981-A52E-46F7-FF08F8CD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AD8A-BB9F-3A44-ADCC-5DAF737BB5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F133A-38C4-1480-1F1E-B7A54043B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1: Logic</a:t>
            </a:r>
          </a:p>
        </p:txBody>
      </p:sp>
    </p:spTree>
    <p:extLst>
      <p:ext uri="{BB962C8B-B14F-4D97-AF65-F5344CB8AC3E}">
        <p14:creationId xmlns:p14="http://schemas.microsoft.com/office/powerpoint/2010/main" val="40183492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4DEDC3-89DA-B86F-09AE-5E60DA08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Day 1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1578BC-F26C-4E01-D671-6046D2C602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On day 1 we learned:</a:t>
            </a:r>
          </a:p>
          <a:p>
            <a:pPr lvl="1"/>
            <a:r>
              <a:rPr lang="en-US" dirty="0"/>
              <a:t>To represent and reason about knowledge using Logic</a:t>
            </a:r>
          </a:p>
          <a:p>
            <a:pPr lvl="1"/>
            <a:r>
              <a:rPr lang="en-US" dirty="0"/>
              <a:t>The principles of Propositional Logic</a:t>
            </a:r>
          </a:p>
          <a:p>
            <a:pPr lvl="1"/>
            <a:r>
              <a:rPr lang="en-US" dirty="0"/>
              <a:t>Proving argument correctness</a:t>
            </a:r>
          </a:p>
          <a:p>
            <a:pPr lvl="1"/>
            <a:endParaRPr lang="en-US" dirty="0"/>
          </a:p>
          <a:p>
            <a:r>
              <a:rPr lang="en-US" dirty="0"/>
              <a:t>On day 2 we will:</a:t>
            </a:r>
          </a:p>
          <a:p>
            <a:pPr lvl="1"/>
            <a:r>
              <a:rPr lang="en-US" dirty="0"/>
              <a:t>Learn how to use an automated tool for natural deduction</a:t>
            </a:r>
          </a:p>
        </p:txBody>
      </p:sp>
    </p:spTree>
    <p:extLst>
      <p:ext uri="{BB962C8B-B14F-4D97-AF65-F5344CB8AC3E}">
        <p14:creationId xmlns:p14="http://schemas.microsoft.com/office/powerpoint/2010/main" val="6009453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AC37-8EA3-933C-F98B-5E166188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7C79-5E14-5739-065E-315BA2A7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531475" cy="632219"/>
          </a:xfrm>
        </p:spPr>
        <p:txBody>
          <a:bodyPr/>
          <a:lstStyle/>
          <a:p>
            <a:r>
              <a:rPr lang="en-US" dirty="0"/>
              <a:t>Automated Reasoning with </a:t>
            </a:r>
            <a:r>
              <a:rPr lang="en-US" dirty="0" err="1"/>
              <a:t>Kanren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2B65C-2C0E-F2DD-DBE3-95DFC871C2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Open the </a:t>
            </a:r>
            <a:r>
              <a:rPr lang="en-US" dirty="0" err="1"/>
              <a:t>Kanren</a:t>
            </a:r>
            <a:r>
              <a:rPr lang="en-US" dirty="0"/>
              <a:t> Tutorial Notebook and code along…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0170C-7E95-AD7B-788E-34D0BE78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634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41AC-A285-0B70-FB17-6DF5993E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D5DCB2-5292-7563-030D-8BF046D51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Exercises: </a:t>
            </a:r>
            <a:r>
              <a:rPr lang="en-US" sz="6000" b="1" dirty="0" err="1"/>
              <a:t>Kanren</a:t>
            </a:r>
            <a:endParaRPr lang="en-US" sz="6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59551-803C-E736-9C53-11F643C8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558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478E3-1D32-C4DC-B248-6FEBA14F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06A-1066-A5DE-F881-1B1F42A8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356FD-181A-8FD5-9638-6C2A5B6A6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04E6F-9524-284D-4439-0AD2E14178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6331914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6952-1434-929D-6459-7CDC49E6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96245" cy="632219"/>
          </a:xfrm>
        </p:spPr>
        <p:txBody>
          <a:bodyPr/>
          <a:lstStyle/>
          <a:p>
            <a:r>
              <a:rPr lang="en-US" dirty="0"/>
              <a:t>How Automated Reasoning works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C2C87-823E-9A87-D370-CB1660610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Natural deduction has many rules</a:t>
            </a:r>
          </a:p>
          <a:p>
            <a:endParaRPr lang="en-US" dirty="0"/>
          </a:p>
          <a:p>
            <a:r>
              <a:rPr lang="en-US" dirty="0"/>
              <a:t>How we apply them and in what order is not obvious and relies on “human intuition”.</a:t>
            </a:r>
          </a:p>
          <a:p>
            <a:endParaRPr lang="en-US" dirty="0"/>
          </a:p>
          <a:p>
            <a:r>
              <a:rPr lang="en-US" dirty="0"/>
              <a:t>Computers don’t have human intuition…..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F9B6-0C0C-B4E6-AD5E-DC59D8FC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216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695A-72B0-044E-4260-92097484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94917" cy="632219"/>
          </a:xfrm>
        </p:spPr>
        <p:txBody>
          <a:bodyPr/>
          <a:lstStyle/>
          <a:p>
            <a:r>
              <a:rPr lang="en-US" dirty="0"/>
              <a:t>Logical Equivalencies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/>
              </p:cNvSpPr>
              <p:nvPr>
                <p:ph type="pic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Automated inference would be easier if we only had one rule to apply</a:t>
                </a:r>
              </a:p>
              <a:p>
                <a:r>
                  <a:rPr lang="en-US" dirty="0"/>
                  <a:t>Consider the expressions</a:t>
                </a:r>
              </a:p>
              <a:p>
                <a:pPr marL="457189" lvl="1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457189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b="0" dirty="0"/>
              </a:p>
              <a:p>
                <a:pPr marL="457189" lvl="1" indent="0">
                  <a:buNone/>
                </a:pPr>
                <a:endParaRPr lang="en-US" dirty="0"/>
              </a:p>
              <a:p>
                <a:r>
                  <a:rPr lang="en-US" dirty="0"/>
                  <a:t>Can we represent a knowledge base using only one these?</a:t>
                </a:r>
              </a:p>
            </p:txBody>
          </p:sp>
        </mc:Choice>
        <mc:Fallback xmlns="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3"/>
              </p:nvPr>
            </p:nvSpPr>
            <p:spPr>
              <a:blipFill>
                <a:blip r:embed="rId2"/>
                <a:stretch>
                  <a:fillRect l="-1084" t="-2089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24F99-E960-C486-CA7D-9EA166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526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2D0A-6782-8EA6-89F3-27362AAB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288547" cy="632219"/>
          </a:xfrm>
        </p:spPr>
        <p:txBody>
          <a:bodyPr/>
          <a:lstStyle/>
          <a:p>
            <a:r>
              <a:rPr lang="en-US" dirty="0"/>
              <a:t>Rule Based Systems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8DD7F-0ADF-563C-C74F-6E2D09337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If we can represent a Knowledge base purely in terms of material implication and negation, we only need one inference rule: </a:t>
            </a:r>
            <a:r>
              <a:rPr lang="en-US" i="1" dirty="0"/>
              <a:t>modus ponens</a:t>
            </a:r>
          </a:p>
          <a:p>
            <a:endParaRPr lang="en-US" i="1" dirty="0"/>
          </a:p>
          <a:p>
            <a:r>
              <a:rPr lang="en-US" dirty="0"/>
              <a:t>Will allow us to prove logical statements by either:</a:t>
            </a:r>
          </a:p>
          <a:p>
            <a:endParaRPr lang="en-US" dirty="0"/>
          </a:p>
          <a:p>
            <a:r>
              <a:rPr lang="en-US" dirty="0"/>
              <a:t>Systematically deriving new facts until we find the one we want</a:t>
            </a:r>
          </a:p>
          <a:p>
            <a:r>
              <a:rPr lang="en-US" dirty="0"/>
              <a:t>Systematically exploring the known facts to establish compatibility.</a:t>
            </a:r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9786E-E48A-924B-0232-33ED56F0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74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AD85-A0AD-770E-FE29-86452AFF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2A4F0-001F-C50D-6A36-CEDCF77C31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469609" cy="48578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 x eats grass and goes "moo" then x is a cow.</a:t>
            </a:r>
          </a:p>
          <a:p>
            <a:r>
              <a:rPr lang="en-US" dirty="0"/>
              <a:t>If x eats hay and goes "neigh" then x is a horse.</a:t>
            </a:r>
          </a:p>
          <a:p>
            <a:r>
              <a:rPr lang="en-US" dirty="0"/>
              <a:t>If x eats grass and goes "baa" then x is a sheep.</a:t>
            </a:r>
          </a:p>
          <a:p>
            <a:r>
              <a:rPr lang="en-US" dirty="0"/>
              <a:t>If x is a cow then x is brown.</a:t>
            </a:r>
          </a:p>
          <a:p>
            <a:r>
              <a:rPr lang="en-US" dirty="0"/>
              <a:t>If x is a horse then x is black.</a:t>
            </a:r>
          </a:p>
          <a:p>
            <a:r>
              <a:rPr lang="en-US" dirty="0"/>
              <a:t>If x is a sheep then x is white.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Given x=“Jeff”, we know that </a:t>
            </a:r>
            <a:r>
              <a:rPr lang="en-US" i="1" dirty="0"/>
              <a:t>Jeff eats hay </a:t>
            </a:r>
            <a:r>
              <a:rPr lang="en-US" dirty="0"/>
              <a:t>and </a:t>
            </a:r>
            <a:r>
              <a:rPr lang="en-US" i="1" dirty="0"/>
              <a:t>Jeff goes "neigh".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What </a:t>
            </a:r>
            <a:r>
              <a:rPr lang="en-US" dirty="0" err="1"/>
              <a:t>colour</a:t>
            </a:r>
            <a:r>
              <a:rPr lang="en-US" dirty="0"/>
              <a:t> is Jeff? (our </a:t>
            </a:r>
            <a:r>
              <a:rPr lang="en-US" b="1" dirty="0"/>
              <a:t>goal</a:t>
            </a:r>
            <a:r>
              <a:rPr lang="en-US" dirty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AAE0-4B01-D995-945F-0DEB12AB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1794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9671-FEB2-7F0E-02B4-41170F42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A411-1CF6-2413-0465-F29C6D16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5686586" cy="632219"/>
          </a:xfrm>
        </p:spPr>
        <p:txBody>
          <a:bodyPr/>
          <a:lstStyle/>
          <a:p>
            <a:r>
              <a:rPr lang="en-US" dirty="0"/>
              <a:t>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B0406-132C-9FC6-4848-AA7DC852E6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x eats grass and goes "moo" then x is a cow.</a:t>
            </a:r>
          </a:p>
          <a:p>
            <a:r>
              <a:rPr lang="en-US" dirty="0"/>
              <a:t>If x eats hay and goes "neigh" then x is a horse.</a:t>
            </a:r>
          </a:p>
          <a:p>
            <a:r>
              <a:rPr lang="en-US" dirty="0"/>
              <a:t>If x eats grass and goes "baa" then x is a sheep.</a:t>
            </a:r>
          </a:p>
          <a:p>
            <a:r>
              <a:rPr lang="en-US" dirty="0"/>
              <a:t>If x is a cow then x is brown.</a:t>
            </a:r>
          </a:p>
          <a:p>
            <a:r>
              <a:rPr lang="en-US" dirty="0"/>
              <a:t>If x is a horse then x is black.</a:t>
            </a:r>
          </a:p>
          <a:p>
            <a:r>
              <a:rPr lang="en-US" dirty="0"/>
              <a:t>If x is a sheep then x is white.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Given x=“Jess”, we know that </a:t>
            </a:r>
            <a:r>
              <a:rPr lang="en-US" i="1" dirty="0"/>
              <a:t>Jeff eats grass </a:t>
            </a:r>
            <a:r>
              <a:rPr lang="en-US" dirty="0"/>
              <a:t>and </a:t>
            </a:r>
            <a:r>
              <a:rPr lang="en-US" i="1" dirty="0"/>
              <a:t>Jeff goes ”baa".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We </a:t>
            </a:r>
            <a:r>
              <a:rPr lang="en-US" dirty="0" err="1"/>
              <a:t>hypothesise</a:t>
            </a:r>
            <a:r>
              <a:rPr lang="en-US" dirty="0"/>
              <a:t> “</a:t>
            </a:r>
            <a:r>
              <a:rPr lang="en-US" i="1" dirty="0"/>
              <a:t>Jess is White</a:t>
            </a:r>
            <a:r>
              <a:rPr lang="en-US" dirty="0"/>
              <a:t>” (the goal). Can we prove it?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EDB50-F334-800B-18E8-6817279D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112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AF040-76DD-B46A-E26E-F6D3A422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1984-6C2E-F013-7C6E-D66E0E08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52308" cy="632219"/>
          </a:xfrm>
        </p:spPr>
        <p:txBody>
          <a:bodyPr/>
          <a:lstStyle/>
          <a:p>
            <a:r>
              <a:rPr lang="en-US" dirty="0"/>
              <a:t>Forward vs 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79333-B7B4-D9BB-7C78-CEE86141ED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x eats grass and goes "moo" then x is a cow.</a:t>
            </a:r>
          </a:p>
          <a:p>
            <a:r>
              <a:rPr lang="en-US" dirty="0"/>
              <a:t>If x eats hay and goes "neigh" then x is a horse.</a:t>
            </a:r>
          </a:p>
          <a:p>
            <a:r>
              <a:rPr lang="en-US" dirty="0"/>
              <a:t>If x eats grass and goes "baa" then x is a sheep.</a:t>
            </a:r>
          </a:p>
          <a:p>
            <a:r>
              <a:rPr lang="en-US" dirty="0"/>
              <a:t>If x is a cow then x is brown.</a:t>
            </a:r>
          </a:p>
          <a:p>
            <a:r>
              <a:rPr lang="en-US" dirty="0"/>
              <a:t>If x is a horse then x is black.</a:t>
            </a:r>
          </a:p>
          <a:p>
            <a:r>
              <a:rPr lang="en-US" dirty="0"/>
              <a:t>If x is a sheep then x is white.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Given x=“Jess”, we know that </a:t>
            </a:r>
            <a:r>
              <a:rPr lang="en-US" i="1" dirty="0"/>
              <a:t>Jeff eats grass </a:t>
            </a:r>
            <a:r>
              <a:rPr lang="en-US" dirty="0"/>
              <a:t>and </a:t>
            </a:r>
            <a:r>
              <a:rPr lang="en-US" i="1" dirty="0"/>
              <a:t>Jeff goes ”baa".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1" dirty="0"/>
              <a:t>“What </a:t>
            </a:r>
            <a:r>
              <a:rPr lang="en-US" i="1" dirty="0" err="1"/>
              <a:t>colour</a:t>
            </a:r>
            <a:r>
              <a:rPr lang="en-US" i="1" dirty="0"/>
              <a:t> is Jess?”</a:t>
            </a:r>
            <a:r>
              <a:rPr lang="en-US" dirty="0"/>
              <a:t> vs “Prove </a:t>
            </a:r>
            <a:r>
              <a:rPr lang="en-US" i="1" dirty="0"/>
              <a:t>Jess is White</a:t>
            </a:r>
            <a:r>
              <a:rPr lang="en-US" dirty="0"/>
              <a:t>”.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B21D1-CFD8-D760-2369-818E91C5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0986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168F4-C5EF-8DB7-C23A-8C6133C97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156CF9-1202-E541-7442-E43F8A08D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Exercise: Automating Natural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E3386-14A6-7474-F0E9-91344B70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8133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C1012-3D99-82E8-E27C-264626BB5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12FD-388C-7B65-FD62-60EE514F0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3FF1C-A8C8-B776-8B5A-869A0871FA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15629-A621-C4E4-21EC-1A554CBE6E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14472747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252A-2F48-8C2C-C0C6-7321B18D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CDC04-E83D-8606-43DC-2B8B5648B1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0863"/>
            <a:ext cx="4400228" cy="4912611"/>
          </a:xfrm>
        </p:spPr>
        <p:txBody>
          <a:bodyPr>
            <a:normAutofit/>
          </a:bodyPr>
          <a:lstStyle/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1. If x goes "moo" then x is a cow.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2. If x goes "baa" then x is a sheep.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3. If x goes "neigh" then x is a horse.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4. If x is a cow then x eats grass.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5. If x is a sheep then x eats grass.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6. If x is a horse then x eats oats.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7. If x is a cow then x has four legs.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8. If x is a sheep then x has four legs.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9. If x is a horse then x has four legs.</a:t>
            </a: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Jenny has four legs.</a:t>
            </a: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Where do we start??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3E43-4C2D-FEF8-245E-73BB2AF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19C3F-DE31-DCA2-69D9-EE6F43F82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331" y="895878"/>
            <a:ext cx="5646290" cy="491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6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5BE9-382E-C731-9CD5-2B3FB382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3D80-161A-6915-D98B-D857AC5E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48E2C-D253-92BC-10EA-594CF4E13A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0863"/>
            <a:ext cx="4400228" cy="491261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Inference in rule based systems is equivalent to </a:t>
            </a:r>
            <a:r>
              <a:rPr lang="en-US" sz="1600" b="1" dirty="0">
                <a:solidFill>
                  <a:schemeClr val="tx2"/>
                </a:solidFill>
              </a:rPr>
              <a:t>search </a:t>
            </a:r>
            <a:r>
              <a:rPr lang="en-US" sz="1600" dirty="0">
                <a:solidFill>
                  <a:schemeClr val="tx2"/>
                </a:solidFill>
              </a:rPr>
              <a:t>on a directed graph</a:t>
            </a:r>
          </a:p>
          <a:p>
            <a:r>
              <a:rPr lang="en-US" sz="1600" dirty="0">
                <a:solidFill>
                  <a:schemeClr val="tx2"/>
                </a:solidFill>
              </a:rPr>
              <a:t>A proof corresponds to finding a path in the graph between the premises and the goal.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forward chaining, we start with the premises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“Jack goes ‘Moo’. What does Jack eat?”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backward chaining, we start with the goal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“Jack goes ‘Moo’. Does Jack eat Oats?”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Both cases require us to traverse the graph. How to do this systematically?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742944" indent="-457200"/>
            <a:endParaRPr lang="en-US" sz="1600" dirty="0">
              <a:solidFill>
                <a:schemeClr val="tx2"/>
              </a:solidFill>
            </a:endParaRPr>
          </a:p>
          <a:p>
            <a:pPr marL="914389" lvl="1" indent="-457200"/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D1E2E-8AE5-A406-3A84-16D25A38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66D0F-0E96-6C7A-853C-CC935C440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331" y="895878"/>
            <a:ext cx="5646290" cy="491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1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E97B-E535-D213-C26D-7E0416CB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102439" cy="632219"/>
          </a:xfrm>
        </p:spPr>
        <p:txBody>
          <a:bodyPr/>
          <a:lstStyle/>
          <a:p>
            <a:r>
              <a:rPr lang="en-US" dirty="0"/>
              <a:t>Breadth-First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1C71D-B90F-C87B-1AB2-CE5BFE36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B14E7-83A8-299E-B7ED-4DE584BC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8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D4D8-5634-6522-BFAE-813220B4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FF2B-31B4-23B9-2A9C-6FFA4718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500263" cy="632219"/>
          </a:xfrm>
        </p:spPr>
        <p:txBody>
          <a:bodyPr/>
          <a:lstStyle/>
          <a:p>
            <a:r>
              <a:rPr lang="en-US" dirty="0"/>
              <a:t>Breadth-First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0CDEC-6B1F-1E60-30D3-F69404B1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EB622-C2CB-8C2A-0BEF-B9C18CCB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5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5E06-75C1-9AC8-1943-1531FF97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6916-C080-03A1-E8E7-5C6BB3D4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857854" cy="632219"/>
          </a:xfrm>
        </p:spPr>
        <p:txBody>
          <a:bodyPr/>
          <a:lstStyle/>
          <a:p>
            <a:r>
              <a:rPr lang="en-US" dirty="0"/>
              <a:t>Depth-First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5BAF1-C1D3-C29C-C9F1-297A10A4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392E8-FAC1-8068-D19C-61CA54C2E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5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B016-A11C-ABCA-0E92-CB61A51E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DD76-5F16-73FC-311E-CBD14581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312471" cy="632219"/>
          </a:xfrm>
        </p:spPr>
        <p:txBody>
          <a:bodyPr/>
          <a:lstStyle/>
          <a:p>
            <a:r>
              <a:rPr lang="en-US" dirty="0"/>
              <a:t>Depth-First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4E11-6539-2756-412A-C6D4DD45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62408-B439-63F8-72B0-3EBB38A5E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0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569C-7482-874A-E669-773FB73A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11359" cy="632219"/>
          </a:xfrm>
        </p:spPr>
        <p:txBody>
          <a:bodyPr/>
          <a:lstStyle/>
          <a:p>
            <a:r>
              <a:rPr lang="en-US" dirty="0"/>
              <a:t>Breadth vs Depth-First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6F72-77E4-EBA7-FECE-4BFC9B4C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712F8E-FBF7-6A3C-8A52-8A701758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3" y="1276597"/>
            <a:ext cx="11590475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946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FE28-A46F-086B-8C33-47A70D7F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3898E0-4A5E-6323-06B7-F52A39F46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Exercise: Proof and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A1633-BF73-E66E-B238-D1A029D2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937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FE8A-915A-3E51-42B8-77D69C86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98F8-B0F8-A713-499E-C9BAE6C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D2F98-9F4B-10ED-CC9E-A35B89AC7A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Logic programming with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Kanren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Forward and Backward Chaining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Proof and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Tomorrow: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LLMs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B3F90-0DC7-7DAB-FE48-4406DB56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345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8526821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8175171" cy="632219"/>
          </a:xfrm>
        </p:spPr>
        <p:txBody>
          <a:bodyPr/>
          <a:lstStyle/>
          <a:p>
            <a:r>
              <a:rPr lang="en-US" dirty="0"/>
              <a:t>A Problem with Propositions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	All computer scientists are logical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Alan is a computer scientist</a:t>
            </a:r>
          </a:p>
          <a:p>
            <a:r>
              <a:rPr lang="en-GB" sz="2400" dirty="0">
                <a:solidFill>
                  <a:schemeClr val="tx2"/>
                </a:solidFill>
              </a:rPr>
              <a:t>	Therefore Alan is logical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represent this easily this in 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another computer scientist, Grace?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argument above is about Alan.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need to construct another argument for Grace.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Physicists,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Philophers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Classicists?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seems……wasteful</a:t>
            </a:r>
          </a:p>
          <a:p>
            <a:pPr lvl="1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A4955-C5B1-2691-5C79-E75FF9A05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0" y="2990800"/>
            <a:ext cx="3149600" cy="67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Even worse….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	All computer scientists are logical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Some computer scientists are Irish</a:t>
            </a:r>
          </a:p>
          <a:p>
            <a:r>
              <a:rPr lang="en-GB" sz="2400" dirty="0">
                <a:solidFill>
                  <a:schemeClr val="tx2"/>
                </a:solidFill>
              </a:rPr>
              <a:t>	Therefore, some computer scientists are logical and Irish.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Do our tools allow us to prove that this is a valid argument?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These are all propositions, but they use quantifiers (all, some)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 natural mechanisms for working with these in propositional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Careful definitions of the sentences has got us out of trouble so far, but won’t work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need some new mechanisms.</a:t>
            </a:r>
          </a:p>
          <a:p>
            <a:endParaRPr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98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Propositions have to be </a:t>
            </a:r>
            <a:r>
              <a:rPr lang="en-US" sz="2800" i="1" dirty="0">
                <a:solidFill>
                  <a:schemeClr val="tx2"/>
                </a:solidFill>
              </a:rPr>
              <a:t>unconditionally</a:t>
            </a:r>
            <a:r>
              <a:rPr lang="en-US" sz="2800" dirty="0">
                <a:solidFill>
                  <a:schemeClr val="tx2"/>
                </a:solidFill>
              </a:rPr>
              <a:t> True or False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Ahmed had the Stew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Niamh had the Dhal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First order logic introduces mechanisms that allow us to include and reason about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(Ahmed, Niamh, </a:t>
            </a:r>
            <a:r>
              <a:rPr lang="en-US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Lorapix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Acidulitis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28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Quantifiers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(all, some </a:t>
            </a:r>
            <a:r>
              <a:rPr lang="en-US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(Ordered dinner, is a symptom of)</a:t>
            </a:r>
          </a:p>
        </p:txBody>
      </p:sp>
    </p:spTree>
    <p:extLst>
      <p:ext uri="{BB962C8B-B14F-4D97-AF65-F5344CB8AC3E}">
        <p14:creationId xmlns:p14="http://schemas.microsoft.com/office/powerpoint/2010/main" val="4928298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Variables and Predicates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First order logic allows us to formulate generic statement.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Instead of saying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 is a Computer Scientist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Grace is a Computer Scientist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Boris is not a Computer Scientist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define a predicate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C(x)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Computer Scientist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en-US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Alan,Grace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{Boris}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i="1" dirty="0" err="1">
                    <a:solidFill>
                      <a:schemeClr val="tx2"/>
                    </a:solidFill>
                  </a:rPr>
                  <a:t>x,y,z</a:t>
                </a:r>
                <a:r>
                  <a:rPr lang="en-US" sz="2400" dirty="0">
                    <a:solidFill>
                      <a:schemeClr val="tx2"/>
                    </a:solidFill>
                  </a:rPr>
                  <a:t> are variables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Each variable is defined on a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domain.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844" t="-1809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159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Quantifiers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2"/>
                    </a:solidFill>
                  </a:rPr>
                  <a:t>We may wish to make statements about part of all of a variable domain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Some people are computer scientists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Computer Scientists are logical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2"/>
                    </a:solidFill>
                  </a:rPr>
                  <a:t>Two common quantifiers: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∀</m:t>
                    </m:r>
                  </m:oMath>
                </a14:m>
                <a:r>
                  <a:rPr lang="en-US" sz="28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for all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∃</m:t>
                    </m:r>
                  </m:oMath>
                </a14:m>
                <a:r>
                  <a:rPr lang="en-US" sz="28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exists</a:t>
                </a:r>
              </a:p>
              <a:p>
                <a:pPr lvl="1"/>
                <a:endParaRPr lang="en-US" sz="2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089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∀</m:t>
                    </m:r>
                  </m:oMath>
                </a14:m>
                <a:r>
                  <a:rPr lang="en-US" sz="28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[C(x)]		x={</a:t>
                </a:r>
                <a:r>
                  <a:rPr lang="en-US" sz="2800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Alan,Grace</a:t>
                </a:r>
                <a:r>
                  <a:rPr lang="en-US" sz="28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800089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∃</m:t>
                    </m:r>
                  </m:oMath>
                </a14:m>
                <a:r>
                  <a:rPr lang="en-US" sz="28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[C(x)]		x={</a:t>
                </a:r>
                <a:r>
                  <a:rPr lang="en-US" sz="2800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Alan,Grace</a:t>
                </a:r>
                <a:r>
                  <a:rPr lang="en-US" sz="28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Boris}</a:t>
                </a:r>
                <a:endParaRPr lang="en-US" sz="2800" dirty="0">
                  <a:solidFill>
                    <a:schemeClr val="tx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086" t="-2067" r="-724" b="-4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57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can use connectives with both predicates and quantifiers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400" i="1" dirty="0">
                  <a:solidFill>
                    <a:schemeClr val="tx2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Predicate </a:t>
                </a: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(is a computer scientist)</a:t>
                </a:r>
                <a:endParaRPr lang="en-US" i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Predicate </a:t>
                </a: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 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(is logical)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Variable </a:t>
                </a: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(all people)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2"/>
                  </a:solidFill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⟹</m:t>
                          </m:r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200" b="0" dirty="0">
                  <a:solidFill>
                    <a:schemeClr val="tx2"/>
                  </a:solidFill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2"/>
                  </a:solidFill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3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[</m:t>
                      </m:r>
                      <m:r>
                        <a:rPr lang="en-US" sz="3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320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3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sz="3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3200" dirty="0">
                  <a:solidFill>
                    <a:schemeClr val="tx2"/>
                  </a:solidFill>
                </a:endParaRPr>
              </a:p>
              <a:p>
                <a:endParaRPr lang="en-US" sz="2400" i="1" dirty="0">
                  <a:solidFill>
                    <a:schemeClr val="tx2"/>
                  </a:solidFill>
                  <a:ea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sz="32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sz="32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[</m:t>
                      </m:r>
                      <m:r>
                        <a:rPr lang="en-US" sz="32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32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)⟹¬</m:t>
                      </m:r>
                      <m:r>
                        <a:rPr lang="en-US" sz="32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32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3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5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2B2ED-7D52-F1C3-6166-6059749E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4800" dirty="0"/>
              <a:t>Exercise: First Order Logic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C8BB2-CE84-16B2-99F6-937C7CF0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5043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31574350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In the era of LLMs do we need all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777088" cy="490562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Large language models like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, Llama, Bard, Claude can understand and generate astonishingly coherent natural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Bold claims have been made about the capabilities of these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 these claims stack up?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LLMs </a:t>
            </a:r>
            <a:r>
              <a:rPr lang="en-US" sz="2400" b="1" dirty="0">
                <a:solidFill>
                  <a:schemeClr val="tx2"/>
                </a:solidFill>
              </a:rPr>
              <a:t>reason</a:t>
            </a:r>
            <a:r>
              <a:rPr lang="en-US" sz="2400" dirty="0">
                <a:solidFill>
                  <a:schemeClr val="tx2"/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84691-49EC-C229-5D92-A735D30CB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654" y="1107853"/>
            <a:ext cx="5190146" cy="128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2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[You will learn more about this next term in “Natural Language Processing”]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LLMs are generative language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Trained to generate sequences of words conditioned 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prompt supplied by us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they have already generated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Essentially they predict the next word in a sequence by sampling from the distribution of possible words.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do they work so well?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large neural network models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Self-supervised generative pre-training – learning to predict the training data itself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Trained on vast amounts of data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1763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Why do some people think this might lead to AGI?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Massively improved ability to generate text over previous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Far better at the “Turing Test” than previous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Some evidence that its output is a synthesis of its training data not a regurgitation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Wishful thinking!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810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Why do some people think this might lead to AGI?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Massively improved ability to generate text over previous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Far better at the “Turing Test” than previous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Some evidence that its output is a synthesis of its training data not a regurgitation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Wishful thinking!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041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BDA0-D13D-951C-6F1E-B5F8E931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trust it?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0DEFD-7ADA-6C43-00BF-CB1B1B5D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5B6A9-ABDB-BA29-FB6A-0D00D74E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8" y="1273417"/>
            <a:ext cx="7772400" cy="520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198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7D0E-84BB-63A4-9059-19ED1E83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95661" cy="632219"/>
          </a:xfrm>
        </p:spPr>
        <p:txBody>
          <a:bodyPr/>
          <a:lstStyle/>
          <a:p>
            <a:r>
              <a:rPr lang="en-US" dirty="0"/>
              <a:t>Leading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87211-EF71-BD56-0BA9-3E8F606F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78FC2-BF95-4E13-E026-2140F68A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76226"/>
            <a:ext cx="7772400" cy="310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251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0A95-0E22-8F52-BA75-5309A9AB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Bold Claims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94897-A71D-5FD1-86D7-AEF5057D5E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838608"/>
            <a:ext cx="10517372" cy="317486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Let’s find out if this is true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BBD2-2843-8DDB-A286-F2DC17FB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A063A-840F-425E-4E07-FEF8FC78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1275696"/>
            <a:ext cx="7772400" cy="130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068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An old friend…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Can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do modus ponens?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All men are mortal</a:t>
            </a:r>
          </a:p>
          <a:p>
            <a:r>
              <a:rPr lang="en-US" sz="2400" dirty="0">
                <a:solidFill>
                  <a:schemeClr val="tx2"/>
                </a:solidFill>
              </a:rPr>
              <a:t>Socrates is a man…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5DF1A-633D-6833-E59C-43F82ECE6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6" y="3374397"/>
            <a:ext cx="10669949" cy="151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861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0062-F4E0-04D5-4E3E-AE4CBB2E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323667" cy="632219"/>
          </a:xfrm>
        </p:spPr>
        <p:txBody>
          <a:bodyPr/>
          <a:lstStyle/>
          <a:p>
            <a:r>
              <a:rPr lang="en-US" dirty="0"/>
              <a:t>More complex arguments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FAFDA-0E29-3B9A-54BC-277663F1E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2"/>
                </a:solidFill>
              </a:rPr>
              <a:t>If I take a hat and gloves when it’s cold and I’m not wearing a hat or gloves, is it cold?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3D52-9271-B3BF-8E71-082C4780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8E72E-BB80-8FBA-656E-A9C914D9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78" y="2741942"/>
            <a:ext cx="10213443" cy="25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3180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An old friend…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Can we tempt it into a logical fallacy?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All men are mortal</a:t>
            </a:r>
          </a:p>
          <a:p>
            <a:r>
              <a:rPr lang="en-US" sz="2400" dirty="0">
                <a:solidFill>
                  <a:schemeClr val="tx2"/>
                </a:solidFill>
              </a:rPr>
              <a:t>Socrates is not a man…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AE5CC-6BE0-86EF-87E9-8D27FBF0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7" y="3148617"/>
            <a:ext cx="10510805" cy="149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72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419-346F-F2CA-1B64-F8778F7E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A76D2-1E96-87D6-AE7C-67EEA75A7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Go to the exercise “Are you Logical”.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Copy and paste the first five questions (one at a time) into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does it do? Is it consistent? What sort of mistakes does it make?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7641D-21EC-6E05-878F-FC00302D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642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419-346F-F2CA-1B64-F8778F7E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A76D2-1E96-87D6-AE7C-67EEA75A7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Go to the exercise “Elementary my dear Watson” on Monday 13 November.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Copy and paste the four parts of question 3 (one at a time) into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. You’ll need to include the question each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does it do? Is it consistent? What sort of mistakes does it make?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7641D-21EC-6E05-878F-FC00302D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54511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0062-F4E0-04D5-4E3E-AE4CBB2E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323667" cy="632219"/>
          </a:xfrm>
        </p:spPr>
        <p:txBody>
          <a:bodyPr/>
          <a:lstStyle/>
          <a:p>
            <a:r>
              <a:rPr lang="en-US" dirty="0"/>
              <a:t>A simple riddle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FAFDA-0E29-3B9A-54BC-277663F1E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Bird and insects have wings</a:t>
            </a:r>
          </a:p>
          <a:p>
            <a:r>
              <a:rPr lang="en-US" dirty="0">
                <a:solidFill>
                  <a:schemeClr val="tx2"/>
                </a:solidFill>
              </a:rPr>
              <a:t>Bird have two legs, bees have six</a:t>
            </a:r>
          </a:p>
          <a:p>
            <a:r>
              <a:rPr lang="en-US" dirty="0">
                <a:solidFill>
                  <a:schemeClr val="tx2"/>
                </a:solidFill>
              </a:rPr>
              <a:t>Bees are insects</a:t>
            </a:r>
          </a:p>
          <a:p>
            <a:r>
              <a:rPr lang="en-US" dirty="0">
                <a:solidFill>
                  <a:schemeClr val="tx2"/>
                </a:solidFill>
              </a:rPr>
              <a:t>Dogs, cows, horses, sheep and cats have four legs and no wings</a:t>
            </a:r>
          </a:p>
          <a:p>
            <a:r>
              <a:rPr lang="en-US" dirty="0">
                <a:solidFill>
                  <a:schemeClr val="tx2"/>
                </a:solidFill>
              </a:rPr>
              <a:t>Snakes have neither legs nor wings</a:t>
            </a:r>
          </a:p>
          <a:p>
            <a:r>
              <a:rPr lang="en-US" dirty="0">
                <a:solidFill>
                  <a:schemeClr val="tx2"/>
                </a:solidFill>
              </a:rPr>
              <a:t>I have four legs and wings. What am I?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3D52-9271-B3BF-8E71-082C4780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832F3-C9CA-63F2-9643-C17D9B912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41" y="3429000"/>
            <a:ext cx="9790118" cy="248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CD52C-64A1-CE4D-7FFD-1CC01971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F43A0-35A2-9FC4-B71F-CDC52164FCED}"/>
              </a:ext>
            </a:extLst>
          </p:cNvPr>
          <p:cNvGrpSpPr/>
          <p:nvPr/>
        </p:nvGrpSpPr>
        <p:grpSpPr>
          <a:xfrm>
            <a:off x="2707342" y="37676"/>
            <a:ext cx="7633446" cy="6782648"/>
            <a:chOff x="2209800" y="1013638"/>
            <a:chExt cx="7772400" cy="70899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36CDA1-8C83-8DDD-6612-2611BFD4C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013638"/>
              <a:ext cx="7772400" cy="318233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D79F3A-8D7C-4DAC-3DD3-A9EA5C96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4136336"/>
              <a:ext cx="7772400" cy="298610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DBA963-0818-1335-BBCE-6D8C91163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9800" y="7122439"/>
              <a:ext cx="7772400" cy="9811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92508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E29C-14F2-760E-7CCD-B7F58059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71D8-397D-62B0-AFC0-5CA52C3A16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you get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to solve the three diners puzzle (Are you Logical, Q6)?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(You may need to edit the text to make it fit).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15-20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sort of mistakes does it make (if it makes mistakes)?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DA57-8B2B-10B7-97D8-6B0277A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935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E29C-14F2-760E-7CCD-B7F58059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71D8-397D-62B0-AFC0-5CA52C3A16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you get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to solve Einstein’s Riddle (slides, Tuesday 13 November)?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(You may need to edit the text to make it fit).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15-20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sort of mistakes does it make (if it makes mistakes)?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DA57-8B2B-10B7-97D8-6B0277A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26628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0B4F89-18CD-7069-641D-77958FD1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Assignment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A0B0A3-86DD-BD83-1F6B-151C81ADE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Now open in Canvas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Let’s take a look!</a:t>
            </a:r>
          </a:p>
        </p:txBody>
      </p:sp>
    </p:spTree>
    <p:extLst>
      <p:ext uri="{BB962C8B-B14F-4D97-AF65-F5344CB8AC3E}">
        <p14:creationId xmlns:p14="http://schemas.microsoft.com/office/powerpoint/2010/main" val="63266712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7AB8-E683-1A91-3095-0FCB37C2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3FA1-95C3-CED8-C00C-F4F2CC9A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3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E227D-042F-0F2B-9185-E64FC85A7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LLMs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Next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Knowledge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9CDF9-9980-B9C7-AE2F-75FA454F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958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1846</TotalTime>
  <Words>5162</Words>
  <Application>Microsoft Macintosh PowerPoint</Application>
  <PresentationFormat>Widescreen</PresentationFormat>
  <Paragraphs>1138</Paragraphs>
  <Slides>107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5" baseType="lpstr">
      <vt:lpstr>Arial</vt:lpstr>
      <vt:lpstr>Calibri</vt:lpstr>
      <vt:lpstr>Calibri Light</vt:lpstr>
      <vt:lpstr>Cambria Math</vt:lpstr>
      <vt:lpstr>Courier New</vt:lpstr>
      <vt:lpstr>Helvetica</vt:lpstr>
      <vt:lpstr>Menlo</vt:lpstr>
      <vt:lpstr>Office Theme</vt:lpstr>
      <vt:lpstr>MSc Artificial Intelligence</vt:lpstr>
      <vt:lpstr>Logical Reasoning</vt:lpstr>
      <vt:lpstr>Graphical Representations of Knowledge</vt:lpstr>
      <vt:lpstr>Causal Reasoning</vt:lpstr>
      <vt:lpstr>Learning Outcomes</vt:lpstr>
      <vt:lpstr>Outline Syllabus</vt:lpstr>
      <vt:lpstr>How the Course will be Taught</vt:lpstr>
      <vt:lpstr>Assessment</vt:lpstr>
      <vt:lpstr>Can you solve them?</vt:lpstr>
      <vt:lpstr>PowerPoint Presentation</vt:lpstr>
      <vt:lpstr>What reasoning abilities did you use?</vt:lpstr>
      <vt:lpstr>Introduction</vt:lpstr>
      <vt:lpstr>Symbol Manipulation and Intelligence</vt:lpstr>
      <vt:lpstr>Logic and Intelligence</vt:lpstr>
      <vt:lpstr>MSc Artificial Intelligence</vt:lpstr>
      <vt:lpstr>Propositional Logic</vt:lpstr>
      <vt:lpstr>Propositional Logic</vt:lpstr>
      <vt:lpstr>Propositions</vt:lpstr>
      <vt:lpstr>Connectives</vt:lpstr>
      <vt:lpstr>Correctness</vt:lpstr>
      <vt:lpstr>Validity and Soundness</vt:lpstr>
      <vt:lpstr>PowerPoint Presentation</vt:lpstr>
      <vt:lpstr>MSc Artificial Intelligence</vt:lpstr>
      <vt:lpstr>Formal Propositional Logic</vt:lpstr>
      <vt:lpstr>Making Logical Arguments Formal</vt:lpstr>
      <vt:lpstr>Logical Connectives</vt:lpstr>
      <vt:lpstr>Truth Tables</vt:lpstr>
      <vt:lpstr>Negation (Not)</vt:lpstr>
      <vt:lpstr>Conjunction (And)</vt:lpstr>
      <vt:lpstr>Disjunction (Or)</vt:lpstr>
      <vt:lpstr>Material Implication</vt:lpstr>
      <vt:lpstr>Biconditional</vt:lpstr>
      <vt:lpstr>Back to our example</vt:lpstr>
      <vt:lpstr>PowerPoint Presentation</vt:lpstr>
      <vt:lpstr>PowerPoint Presentation</vt:lpstr>
      <vt:lpstr>MSc Artificial Intelligence</vt:lpstr>
      <vt:lpstr>Knowledge Bases</vt:lpstr>
      <vt:lpstr>How can agents achieve their goals?</vt:lpstr>
      <vt:lpstr>Knowledge Bases</vt:lpstr>
      <vt:lpstr>A Familiar Riddle</vt:lpstr>
      <vt:lpstr>MSc Artificial Intelligence</vt:lpstr>
      <vt:lpstr>Proofs in Logic</vt:lpstr>
      <vt:lpstr>Truth Tables</vt:lpstr>
      <vt:lpstr>Model Checking</vt:lpstr>
      <vt:lpstr>Model Checking</vt:lpstr>
      <vt:lpstr>Truth Tables</vt:lpstr>
      <vt:lpstr>Truth Tables</vt:lpstr>
      <vt:lpstr>Truth Tables</vt:lpstr>
      <vt:lpstr>Natural Deduction</vt:lpstr>
      <vt:lpstr>Natural Deduction</vt:lpstr>
      <vt:lpstr>Example of a Formal Proof</vt:lpstr>
      <vt:lpstr>Common Inference Rules</vt:lpstr>
      <vt:lpstr>A more complex Proof</vt:lpstr>
      <vt:lpstr>Some more Natural Deduction</vt:lpstr>
      <vt:lpstr>Proving Invalid Arguments</vt:lpstr>
      <vt:lpstr>MSc Artificial Intelligence</vt:lpstr>
      <vt:lpstr>PowerPoint Presentation</vt:lpstr>
      <vt:lpstr>Day 1 Wrap-up</vt:lpstr>
      <vt:lpstr>MSc Artificial Intelligence</vt:lpstr>
      <vt:lpstr>Recap from Day 1</vt:lpstr>
      <vt:lpstr>Automated Reasoning with Kanren</vt:lpstr>
      <vt:lpstr>PowerPoint Presentation</vt:lpstr>
      <vt:lpstr>MSc Artificial Intelligence</vt:lpstr>
      <vt:lpstr>How Automated Reasoning works</vt:lpstr>
      <vt:lpstr>Logical Equivalencies</vt:lpstr>
      <vt:lpstr>Rule Based Systems </vt:lpstr>
      <vt:lpstr>Forward Chaining</vt:lpstr>
      <vt:lpstr>Backward Chaining</vt:lpstr>
      <vt:lpstr>Forward vs Backward Chaining</vt:lpstr>
      <vt:lpstr>PowerPoint Presentation</vt:lpstr>
      <vt:lpstr>MSc Artificial Intelligence</vt:lpstr>
      <vt:lpstr>Search and Proof</vt:lpstr>
      <vt:lpstr>Search and Proof</vt:lpstr>
      <vt:lpstr>Breadth-First Search (Forward Chaining)</vt:lpstr>
      <vt:lpstr>Breadth-First Search (Backward Chaining)</vt:lpstr>
      <vt:lpstr>Depth-First Search (Forward Chaining)</vt:lpstr>
      <vt:lpstr>Depth-First Search (Backward Chaining)</vt:lpstr>
      <vt:lpstr>Breadth vs Depth-First Search</vt:lpstr>
      <vt:lpstr>PowerPoint Presentation</vt:lpstr>
      <vt:lpstr>Day 2 Wrap-up</vt:lpstr>
      <vt:lpstr>MSc Artificial Intelligence</vt:lpstr>
      <vt:lpstr>A Problem with Propositions</vt:lpstr>
      <vt:lpstr>First Order Logic</vt:lpstr>
      <vt:lpstr>First Order Logic</vt:lpstr>
      <vt:lpstr>Variables and Predicates</vt:lpstr>
      <vt:lpstr>Quantifiers</vt:lpstr>
      <vt:lpstr>Logical Connectives</vt:lpstr>
      <vt:lpstr>PowerPoint Presentation</vt:lpstr>
      <vt:lpstr>MSc Artificial Intelligence</vt:lpstr>
      <vt:lpstr>In the era of LLMs do we need all this?</vt:lpstr>
      <vt:lpstr>How do LLMs work?</vt:lpstr>
      <vt:lpstr>How do LLMs work?</vt:lpstr>
      <vt:lpstr>How do LLMs work?</vt:lpstr>
      <vt:lpstr>Can we trust it?</vt:lpstr>
      <vt:lpstr>Leading questions?</vt:lpstr>
      <vt:lpstr>Bold Claims</vt:lpstr>
      <vt:lpstr>An old friend…</vt:lpstr>
      <vt:lpstr>More complex arguments</vt:lpstr>
      <vt:lpstr>An old friend…</vt:lpstr>
      <vt:lpstr>Exercise</vt:lpstr>
      <vt:lpstr>Exercise</vt:lpstr>
      <vt:lpstr>A simple riddle</vt:lpstr>
      <vt:lpstr>PowerPoint Presentation</vt:lpstr>
      <vt:lpstr>Challenge</vt:lpstr>
      <vt:lpstr>Challenge</vt:lpstr>
      <vt:lpstr>The Assignment</vt:lpstr>
      <vt:lpstr>Day 3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2025-09-14T09:15:27Z</dcterms:modified>
</cp:coreProperties>
</file>