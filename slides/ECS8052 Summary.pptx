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91" r:id="rId2"/>
    <p:sldId id="312" r:id="rId3"/>
    <p:sldId id="315" r:id="rId4"/>
    <p:sldId id="318" r:id="rId5"/>
    <p:sldId id="319" r:id="rId6"/>
    <p:sldId id="320" r:id="rId7"/>
    <p:sldId id="317" r:id="rId8"/>
    <p:sldId id="321" r:id="rId9"/>
    <p:sldId id="313" r:id="rId10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Page" id="{C81B977D-B904-D64D-9B82-73A8047B6F1A}">
          <p14:sldIdLst>
            <p14:sldId id="291"/>
            <p14:sldId id="312"/>
            <p14:sldId id="315"/>
            <p14:sldId id="318"/>
            <p14:sldId id="319"/>
            <p14:sldId id="320"/>
            <p14:sldId id="317"/>
            <p14:sldId id="321"/>
            <p14:sldId id="3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0D"/>
    <a:srgbClr val="494949"/>
    <a:srgbClr val="672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EE8503-CE9E-C34F-9E10-E2229E223B43}" v="18" dt="2023-05-09T07:40:58.8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72" autoAdjust="0"/>
    <p:restoredTop sz="94762" autoAdjust="0"/>
  </p:normalViewPr>
  <p:slideViewPr>
    <p:cSldViewPr snapToGrid="0" snapToObjects="1" showGuides="1">
      <p:cViewPr varScale="1">
        <p:scale>
          <a:sx n="121" d="100"/>
          <a:sy n="121" d="100"/>
        </p:scale>
        <p:origin x="496" y="176"/>
      </p:cViewPr>
      <p:guideLst>
        <p:guide orient="horz" pos="2160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44" d="100"/>
          <a:sy n="144" d="100"/>
        </p:scale>
        <p:origin x="4792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6D3417-75BC-C54F-B209-3B706A8CCE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0A46D-43DE-BC4C-9837-2979FE009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ADF77-2023-D74B-9A03-BFA0C5C7CE1A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BBCED-4587-A646-BEDB-46936438AF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4CE3C-DF0C-9349-B48C-C47FA90BE6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03ADA-6B43-F443-8DD3-2F88E9286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187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376A3-60EE-9D4E-A7A1-CB0D7A163B62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16C9C-3AD8-BF4F-8988-7C4865BA5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2904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94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- Ma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98111C-9A9D-874F-B913-835AC8922020}"/>
              </a:ext>
            </a:extLst>
          </p:cNvPr>
          <p:cNvSpPr/>
          <p:nvPr userDrawn="1"/>
        </p:nvSpPr>
        <p:spPr>
          <a:xfrm>
            <a:off x="0" y="6032501"/>
            <a:ext cx="12192000" cy="82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</p:spTree>
    <p:extLst>
      <p:ext uri="{BB962C8B-B14F-4D97-AF65-F5344CB8AC3E}">
        <p14:creationId xmlns:p14="http://schemas.microsoft.com/office/powerpoint/2010/main" val="2164516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 - Artificial Intelligenc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0E60B0-A2C1-574C-9353-D0018515D1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97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Contents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620CE5F-17DD-B74D-9272-0308033DF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8"/>
            <a:ext cx="10515600" cy="595431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C4F0E0-69EF-AC48-B54C-7ABE40BDE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71061"/>
            <a:ext cx="10515600" cy="497532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82122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2427190"/>
            <a:ext cx="4969768" cy="2003621"/>
          </a:xfrm>
        </p:spPr>
        <p:txBody>
          <a:bodyPr anchor="ctr" anchorCtr="0">
            <a:noAutofit/>
          </a:bodyPr>
          <a:lstStyle>
            <a:lvl1pPr algn="ctr">
              <a:defRPr sz="36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This page is to be </a:t>
            </a:r>
            <a:br>
              <a:rPr lang="en-US" dirty="0"/>
            </a:br>
            <a:r>
              <a:rPr lang="en-US" dirty="0"/>
              <a:t>used for any quote or foreword to be used. </a:t>
            </a:r>
          </a:p>
        </p:txBody>
      </p:sp>
    </p:spTree>
    <p:extLst>
      <p:ext uri="{BB962C8B-B14F-4D97-AF65-F5344CB8AC3E}">
        <p14:creationId xmlns:p14="http://schemas.microsoft.com/office/powerpoint/2010/main" val="1489156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3076379"/>
            <a:ext cx="4969768" cy="705243"/>
          </a:xfrm>
        </p:spPr>
        <p:txBody>
          <a:bodyPr anchor="ctr" anchorCtr="0">
            <a:noAutofit/>
          </a:bodyPr>
          <a:lstStyle>
            <a:lvl1pPr algn="ctr">
              <a:defRPr sz="54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 </a:t>
            </a:r>
          </a:p>
        </p:txBody>
      </p:sp>
    </p:spTree>
    <p:extLst>
      <p:ext uri="{BB962C8B-B14F-4D97-AF65-F5344CB8AC3E}">
        <p14:creationId xmlns:p14="http://schemas.microsoft.com/office/powerpoint/2010/main" val="1334409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1 - Text Left /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FE3E8F6-20BF-5D45-B11E-96876ED32A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F0EFC19-CF41-DB41-B8E9-C60A32D7A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3"/>
            <a:ext cx="4969768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22" name="Picture Placeholder 18">
            <a:extLst>
              <a:ext uri="{FF2B5EF4-FFF2-40B4-BE49-F238E27FC236}">
                <a16:creationId xmlns:a16="http://schemas.microsoft.com/office/drawing/2014/main" id="{C4F13C3A-B7AB-9E4E-B901-9EE3CE3FC6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4032" y="381419"/>
            <a:ext cx="4968552" cy="563205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38B46F-0F90-D7AF-02A4-2409B2F6AF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03A4BA0-775A-868E-5C6C-3CE88C60D6C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6F61729-FDED-6C92-2534-0450706B21C9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1BC700-26F9-685D-1F07-780CAA5FF9DC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BE710A2-DADD-146C-1DBD-25E77DC846B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A142B8-3C09-6932-5ACA-FE6C4AA121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854EF07A-6A87-6EA1-38E2-FF8374F6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32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2 - Image Left / Text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A33A383-C1ED-3447-A6B8-FBDDD6B02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36B6E0D6-2EA8-EA4E-84DA-D67B7DE8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396" y="381419"/>
            <a:ext cx="4969768" cy="563205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39" name="Picture Placeholder 18">
            <a:extLst>
              <a:ext uri="{FF2B5EF4-FFF2-40B4-BE49-F238E27FC236}">
                <a16:creationId xmlns:a16="http://schemas.microsoft.com/office/drawing/2014/main" id="{8A668FA9-1D56-0D4A-B3D6-6F44B35DE35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416" y="1107851"/>
            <a:ext cx="4968552" cy="4899888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B1E2D3-A5EF-E7A2-CCDB-4A4DB8D11C8F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4355159-115E-5382-9F87-A62C23BA1D2F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E21EF9B-B835-E5EF-CB9F-D3719CCDE36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AD6817-F6AB-852E-2CB1-AD90DEA29A68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CDB975B-0CF3-E960-8B45-02A776FDE54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1B78A5-7211-FE1A-C661-5DA8DEAFB0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FD1C6019-0BA6-3464-94AF-91B23FF4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7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3 - Large Text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B92A2B9C-E0FC-594F-A120-24372B467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3EC21F77-4957-9348-8D69-41C656769B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1107853"/>
            <a:ext cx="10517372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8EACCF-9F5F-1F98-B9D4-2A78173213C4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400D8FA-1B30-E7D5-3FBB-5D68123170B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71E07DC-4179-81E8-509F-D65BBBBE5273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96D59D-6B44-202F-855F-6988285CB7BE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9151F32-D6DF-9905-127D-242FCFE19ED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6DF842B-CCB4-C51A-C7FA-E704A1052E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B53946A-6A27-7D69-DE7F-B0B4E44F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946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4 - Large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dia Placeholder 2">
            <a:extLst>
              <a:ext uri="{FF2B5EF4-FFF2-40B4-BE49-F238E27FC236}">
                <a16:creationId xmlns:a16="http://schemas.microsoft.com/office/drawing/2014/main" id="{67FB7D94-160F-5546-8678-92B87AAADF8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1"/>
            <a:ext cx="12192000" cy="6032499"/>
          </a:xfrm>
        </p:spPr>
        <p:txBody>
          <a:bodyPr anchor="ctr" anchorCtr="1"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Video Slide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0A7993-082F-448E-B3F8-486B5C968A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860069-236F-1410-A0FF-2F3ABC9BD651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A9C1FB5-0CE6-AAC7-070A-0E0C05BB372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6544E7-10EF-9620-4436-24B5471FECB0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203276C-68DB-8AA1-317A-9F86BE06B59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EFDCDB8-1E85-B120-9ED2-2D34CB5A20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1F10164-37E4-78CC-1489-BC552E1B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02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Left Text / Right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B74D8277-456C-BB4B-B005-EB6E5FD2BB0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E2A4F6-6AC5-2343-AA9D-DCA5C3633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B1C2D37E-2631-DD4A-94AA-82F69735EE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59F9DC-AE7C-FBFF-8C9F-61BE02F5775E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4074B3-FA78-27E6-1A66-191EF809E35C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F012BF-5A13-989E-9E98-63923C30D502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E7E9B8-E765-009E-7849-DBCBE995B39D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E059C79-90CE-29B5-B3B6-01AFB6FC78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C7EEBC1-ED7F-FC72-7584-5337E408E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014A1175-1073-FB62-3A2A-E19FE776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093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Software Develop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C7305CBB-55FB-B44B-A0B0-96E86345C48A}"/>
              </a:ext>
            </a:extLst>
          </p:cNvPr>
          <p:cNvSpPr txBox="1">
            <a:spLocks/>
          </p:cNvSpPr>
          <p:nvPr userDrawn="1"/>
        </p:nvSpPr>
        <p:spPr>
          <a:xfrm>
            <a:off x="9692640" y="6405648"/>
            <a:ext cx="2296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9C85F8-0BD3-7742-B238-5BE9A2749A8F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8" name="Media Placeholder 2">
            <a:extLst>
              <a:ext uri="{FF2B5EF4-FFF2-40B4-BE49-F238E27FC236}">
                <a16:creationId xmlns:a16="http://schemas.microsoft.com/office/drawing/2014/main" id="{675C1070-97AA-E14C-974E-C64156AA472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2D60907-A2F2-994C-87D3-7689996B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9A68E9AB-98DF-2142-9BFB-F47EF8D8E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FFF67C-0CD2-556E-9904-6222E6170FA8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E6D47AA-F4FB-6BC3-5514-F902A3246624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A03E38F-989C-9656-72FC-286B41D6CC45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1C3CEB-0AF5-075D-421C-E15D0FE48194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8872712-1DD4-0887-E813-760FFC8A9C5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692EEC-4BFF-D31E-839E-1C89979FD3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C106A8E-53FA-BCB2-4892-69E52BC8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1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6 - Bullet Poi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29DAEC0-2555-2845-A15D-30799D398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F91855CE-A534-634D-8877-E5E3DECFC3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1100863"/>
            <a:ext cx="10503091" cy="4912611"/>
          </a:xfrm>
        </p:spPr>
        <p:txBody>
          <a:bodyPr>
            <a:normAutofit/>
          </a:bodyPr>
          <a:lstStyle>
            <a:lvl1pPr marL="285744" marR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0D3CC3-42E7-7420-2506-8653F75CE1A6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C2A114-C6F2-5CBA-030B-D9A0EF0E008A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33D99A-80DF-B000-5C94-FE9422B75358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0C8D83-6C1F-4E5E-9719-BF0183A8799F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CD31E5D-516B-571D-C15C-CD38C3A5187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8CF761-B206-1FA6-1631-95E8AC8BDE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F1884E3-782D-A62D-05AB-FE7DDB2B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37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7 - Large Image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57A80E5-2379-9B46-BEC6-413D10608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812783BF-98F9-9345-BF11-B0AC41FBDE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119706"/>
            <a:ext cx="10531475" cy="4857857"/>
          </a:xfrm>
        </p:spPr>
        <p:txBody>
          <a:bodyPr/>
          <a:lstStyle/>
          <a:p>
            <a:r>
              <a:rPr lang="en-US" dirty="0"/>
              <a:t>Add Picture here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A0998-2EC2-811F-C93B-278973FB4CEB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77E8D76-5E3D-8296-877D-09E99FE9842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B96EF3-78F7-A366-80A6-0C642B45E4B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369147-C836-5A48-5CEC-21A546E95281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A7C5095-9559-36E6-DAA4-F5F481B5EF7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85BF1F-2D82-360A-ECA2-7AFA5E2F5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E0963CC3-AB74-9CEB-7CCB-1B453753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35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8 - Lef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7B47B32-3A52-1F48-BE63-C5EB36A2E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99451E6-42D4-A041-898E-E9362B934E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D60C82-C500-B131-44DF-EC245B0F1CA0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6B6E645-A775-B18D-7A7D-E33B24E99D4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FEC917-BC9B-D9F5-566E-28C4ABA92ADD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ADAF47-4FB1-16CD-8732-3E3F414B6EFA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418A011-A6DC-F25A-63AC-A7279A72759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241CAA-D7C2-A8C8-C934-EE7AF5E04D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6E95B5D-F62C-23E0-9018-9BC0EBD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8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9 - Righ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4512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931009-8692-1340-AFDB-626C48A215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12" y="1114007"/>
            <a:ext cx="4969768" cy="488800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75C75E-535D-3E13-83B2-78913A4C3803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C9F514-DC38-14BF-8A18-F76D2A4359FE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C14BD3C-2E89-1792-27E5-6DCF3CC94944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B2FB90-52B0-393C-DABB-185AB20A56F5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CF88BE8-27A3-FCA8-0936-4A57020AF3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9DCB7B-97CF-0A10-074E-8778907E4C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7BA06DD-DBC7-D6C4-A0BA-9445D1A9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18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C85F8-0BD3-7742-B238-5BE9A2749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5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7" r:id="rId2"/>
    <p:sldLayoutId id="2147483661" r:id="rId3"/>
    <p:sldLayoutId id="2147483681" r:id="rId4"/>
    <p:sldLayoutId id="2147483672" r:id="rId5"/>
    <p:sldLayoutId id="2147483662" r:id="rId6"/>
    <p:sldLayoutId id="2147483663" r:id="rId7"/>
    <p:sldLayoutId id="2147483673" r:id="rId8"/>
    <p:sldLayoutId id="2147483680" r:id="rId9"/>
    <p:sldLayoutId id="2147483674" r:id="rId10"/>
    <p:sldLayoutId id="2147483710" r:id="rId11"/>
    <p:sldLayoutId id="2147483675" r:id="rId12"/>
    <p:sldLayoutId id="2147483736" r:id="rId13"/>
    <p:sldLayoutId id="2147483676" r:id="rId14"/>
    <p:sldLayoutId id="2147483677" r:id="rId1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6151-F86A-8A4E-99C3-66587735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972FB-9AF1-F540-A069-5B31D78CB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C70EF-FA7C-484D-A5D6-A4D325679B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415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F1F963F-F65C-7C66-8758-506788D12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Review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41F936E-4FE2-DE97-C717-6C2A7E14C5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Topics covered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Key learning points</a:t>
            </a:r>
          </a:p>
        </p:txBody>
      </p:sp>
    </p:spTree>
    <p:extLst>
      <p:ext uri="{BB962C8B-B14F-4D97-AF65-F5344CB8AC3E}">
        <p14:creationId xmlns:p14="http://schemas.microsoft.com/office/powerpoint/2010/main" val="4029234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C9663-F3AE-DE3C-5D93-B618D9413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CF69F29-267A-948B-2C65-0370FBB67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1: Logic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A019F46-2088-53BF-DD0B-8CF0BF030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Propositional Logic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First Order Logic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Natural Deduction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Rule-based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BFS and DFS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Knowledge generation with Forward Chaining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Knowledge verification with Backward Chaining</a:t>
            </a:r>
          </a:p>
        </p:txBody>
      </p:sp>
    </p:spTree>
    <p:extLst>
      <p:ext uri="{BB962C8B-B14F-4D97-AF65-F5344CB8AC3E}">
        <p14:creationId xmlns:p14="http://schemas.microsoft.com/office/powerpoint/2010/main" val="229549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4F6AE-D419-7164-D70D-87B4CB49D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A331A19-71CF-40E0-9EBC-0154E3084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1: Logic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A4105D9-0B71-20F4-FFE1-7AE618E2A6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Translate knowledge into formal logical statements (a KB)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Use the rules of natural deduction to derive new knowledge and prove its correctness Prove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Represent a KB as a Rule-based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Apply search techniques on rule based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Apply Forward Chaining to generate new knowledge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Apply Backward Chaining to verify correctness of logical statements</a:t>
            </a:r>
          </a:p>
        </p:txBody>
      </p:sp>
    </p:spTree>
    <p:extLst>
      <p:ext uri="{BB962C8B-B14F-4D97-AF65-F5344CB8AC3E}">
        <p14:creationId xmlns:p14="http://schemas.microsoft.com/office/powerpoint/2010/main" val="2053583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EAC26-9F29-C73E-9782-32D63FF95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4B177ED-EE34-A573-A2B2-948F9765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2: Knowledge Graphs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243234F-2EDD-FD88-08E1-7DE6952AE9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Ontologies as grammars for Knowledge Graphs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Knowledge Graphs obey the rules of the Ontology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OWLReady2 as a tool for creating Ontologies and KGs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Ontology Data Formats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467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B7DD1-B7C3-196A-FC76-DBE6E3394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0F5AEA3-597B-5954-4FD6-3798DB513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2: Knowledge Graphs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8908466-7335-7417-CBDE-E7B4F3C3E3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Understand the need for Ontologies as a precursor for Knowledge Graphs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Design an ontology for a 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Implement the ontology in OWLReady2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Construct a KG in OWLReady2 by instantiating the ontology components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Populate a KG with external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Extract and reason about aspects of the KG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571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C3552-A49B-C704-D9A5-FDEC1BFFF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10C7711-9F56-99E0-BFDE-5E80E950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3: Reasoning under Uncertainty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2145E5B-E1BF-030F-B397-A67B8C1251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Principles of Probability: independence, conditional probability product rule, Bayes Rule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Conditional Independence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Construction of Bayesian networks: node ordering, one node per variable.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Approximate Sampling: direct sampling, rejection sampling, importance sampling, likelihood weighting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Markov Chain MC: Gibbs Sampler, Markov Blanket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</a:rPr>
              <a:t>PyMC</a:t>
            </a:r>
            <a:r>
              <a:rPr lang="en-US" sz="2400" dirty="0">
                <a:solidFill>
                  <a:schemeClr val="tx2"/>
                </a:solidFill>
              </a:rPr>
              <a:t> as a tool for MCMC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576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F8154-E758-5A32-48A8-39203B6AC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5DA1D52-D78F-F08C-53BF-FE40DE153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3: Reasoning under Uncertainty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F5486FD-8C78-C85C-1255-4C817BF736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Identify the essential random variables to represent a 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Determine unconditional and conditional independence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Design a Bayesian network to represent a 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Perform inference by exact computation for simple discrete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Use direct sampling and MCMC approaches to generate traces from the joint distribution, and compute quantities of interest from the trace</a:t>
            </a:r>
          </a:p>
        </p:txBody>
      </p:sp>
    </p:spTree>
    <p:extLst>
      <p:ext uri="{BB962C8B-B14F-4D97-AF65-F5344CB8AC3E}">
        <p14:creationId xmlns:p14="http://schemas.microsoft.com/office/powerpoint/2010/main" val="1465123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8F420-8FD3-BC84-2159-1284AA65D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Reflections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0CC02-D832-FD89-2B19-A15AFABAA8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07853"/>
            <a:ext cx="10502462" cy="4905623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</a:rPr>
              <a:t>Really three courses in one.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</a:rPr>
              <a:t>Hard to maintain intellectual coherence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</a:rPr>
              <a:t>Some parts lack theoretical foundation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</a:rPr>
              <a:t>Some parts lack ready </a:t>
            </a:r>
            <a:r>
              <a:rPr lang="en-GB" sz="2800" dirty="0" err="1">
                <a:solidFill>
                  <a:schemeClr val="tx2"/>
                </a:solidFill>
              </a:rPr>
              <a:t>exampes</a:t>
            </a:r>
            <a:endParaRPr lang="en-GB" sz="2800" dirty="0">
              <a:solidFill>
                <a:schemeClr val="tx2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</a:rPr>
              <a:t>Can’t get deep enough in Logic to really explain how to apply it to </a:t>
            </a:r>
            <a:r>
              <a:rPr lang="en-GB" sz="2800" dirty="0" err="1">
                <a:solidFill>
                  <a:schemeClr val="tx2"/>
                </a:solidFill>
              </a:rPr>
              <a:t>KGs.</a:t>
            </a:r>
            <a:endParaRPr lang="en-GB" sz="2800" dirty="0">
              <a:solidFill>
                <a:schemeClr val="tx2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tx2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</a:rPr>
              <a:t>Live programming seems to work well and be useful?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</a:rPr>
              <a:t>Better to separate Lecture/Lab more?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</a:rPr>
              <a:t>Notes vs slides?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</a:rPr>
              <a:t>Technical overhead very high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</a:rPr>
              <a:t>Where should I slow down? Speed up?</a:t>
            </a:r>
          </a:p>
          <a:p>
            <a:endParaRPr lang="en-GB" sz="28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B1FD57-5AF8-9A86-3EDF-8AB6AB7AE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455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ueens University 1">
      <a:dk1>
        <a:srgbClr val="494949"/>
      </a:dk1>
      <a:lt1>
        <a:srgbClr val="9B9B9B"/>
      </a:lt1>
      <a:dk2>
        <a:srgbClr val="2F2F2F"/>
      </a:dk2>
      <a:lt2>
        <a:srgbClr val="FFFFFF"/>
      </a:lt2>
      <a:accent1>
        <a:srgbClr val="00AFAB"/>
      </a:accent1>
      <a:accent2>
        <a:srgbClr val="93D60A"/>
      </a:accent2>
      <a:accent3>
        <a:srgbClr val="D6000D"/>
      </a:accent3>
      <a:accent4>
        <a:srgbClr val="F18903"/>
      </a:accent4>
      <a:accent5>
        <a:srgbClr val="AC004D"/>
      </a:accent5>
      <a:accent6>
        <a:srgbClr val="672E6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Master_PPT" id="{520EB0CF-6B0E-8A45-BC11-DA0C3C33E0F5}" vid="{AE149573-493F-1C48-9EE6-1B6DC626C8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aab77ea-b4a5-49e3-a1e8-d6dd23a1f286}" enabled="0" method="" siteId="{eaab77ea-b4a5-49e3-a1e8-d6dd23a1f28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</TotalTime>
  <Words>385</Words>
  <Application>Microsoft Macintosh PowerPoint</Application>
  <PresentationFormat>Widescreen</PresentationFormat>
  <Paragraphs>88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MSc Artificial Intelligence</vt:lpstr>
      <vt:lpstr>Course Review</vt:lpstr>
      <vt:lpstr>Part 1: Logic</vt:lpstr>
      <vt:lpstr>Part 1: Logic</vt:lpstr>
      <vt:lpstr>Part 2: Knowledge Graphs</vt:lpstr>
      <vt:lpstr>Part 2: Knowledge Graphs</vt:lpstr>
      <vt:lpstr>Part 3: Reasoning under Uncertainty</vt:lpstr>
      <vt:lpstr>Part 3: Reasoning under Uncertainty</vt:lpstr>
      <vt:lpstr>Reflections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Iain Styles</dc:creator>
  <cp:lastModifiedBy>Iain Styles</cp:lastModifiedBy>
  <cp:revision>1</cp:revision>
  <dcterms:created xsi:type="dcterms:W3CDTF">2024-11-26T19:54:10Z</dcterms:created>
  <dcterms:modified xsi:type="dcterms:W3CDTF">2024-11-26T21:42:13Z</dcterms:modified>
</cp:coreProperties>
</file>